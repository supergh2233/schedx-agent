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38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11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7" name="标题 1">
            <a:extLst>
              <a:ext uri="{FF2B5EF4-FFF2-40B4-BE49-F238E27FC236}">
                <a16:creationId xmlns:a16="http://schemas.microsoft.com/office/drawing/2014/main" id="{E54A5A05-F4ED-45DA-A38E-F2F8D6156F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buNone/>
              <a:defRPr sz="6000" b="1" i="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单击此处编辑作品名称</a:t>
            </a:r>
          </a:p>
        </p:txBody>
      </p:sp>
      <p:sp>
        <p:nvSpPr>
          <p:cNvPr id="38" name="日期占位符 3">
            <a:extLst>
              <a:ext uri="{FF2B5EF4-FFF2-40B4-BE49-F238E27FC236}">
                <a16:creationId xmlns:a16="http://schemas.microsoft.com/office/drawing/2014/main" id="{1690963D-DE39-40C3-8762-7C01A78A3EA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39" name="页脚占位符 4">
            <a:extLst>
              <a:ext uri="{FF2B5EF4-FFF2-40B4-BE49-F238E27FC236}">
                <a16:creationId xmlns:a16="http://schemas.microsoft.com/office/drawing/2014/main" id="{AB139B27-57B3-47E4-97B4-C0FCCC62537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40" name="灯片编号占位符 5">
            <a:extLst>
              <a:ext uri="{FF2B5EF4-FFF2-40B4-BE49-F238E27FC236}">
                <a16:creationId xmlns:a16="http://schemas.microsoft.com/office/drawing/2014/main" id="{92BDFBE3-CA1D-44A2-B659-F87107C74CE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4" name="文本占位符 9">
            <a:extLst>
              <a:ext uri="{FF2B5EF4-FFF2-40B4-BE49-F238E27FC236}">
                <a16:creationId xmlns:a16="http://schemas.microsoft.com/office/drawing/2014/main" id="{3E54CDD2-EACE-4468-B71B-594C2F424E5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99050" y="4641215"/>
            <a:ext cx="3993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编辑队伍名称 禁止出现学校和成员信息</a:t>
            </a:r>
          </a:p>
        </p:txBody>
      </p:sp>
      <p:sp>
        <p:nvSpPr>
          <p:cNvPr id="7" name="文本占位符 9">
            <a:extLst>
              <a:ext uri="{FF2B5EF4-FFF2-40B4-BE49-F238E27FC236}">
                <a16:creationId xmlns:a16="http://schemas.microsoft.com/office/drawing/2014/main" id="{45A247F7-7C0D-4A45-9B28-5465607915B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099050" y="5077460"/>
            <a:ext cx="3992880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编辑完成日期 禁止出现学校和成员信息</a:t>
            </a:r>
          </a:p>
          <a:p>
            <a:pPr>
              <a:buNone/>
            </a:pPr>
            <a:endParaRPr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0607D78B-3005-4AFE-A267-DC7A83F30257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参赛团队：</a:t>
            </a:r>
          </a:p>
        </p:txBody>
      </p:sp>
      <p:sp>
        <p:nvSpPr>
          <p:cNvPr id="54" name="文本占位符 9">
            <a:extLst>
              <a:ext uri="{FF2B5EF4-FFF2-40B4-BE49-F238E27FC236}">
                <a16:creationId xmlns:a16="http://schemas.microsoft.com/office/drawing/2014/main" id="{64FB3D7C-B2A1-4178-A8ED-ABC2A24BCF3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完成日期：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0E8D4A-D5C1-428D-9B53-FF43CC5018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B2044C5-C80B-43C4-BE0B-4592927D38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E0A942-44A0-461A-BD6C-97FE520721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107" name="标题 1">
            <a:extLst>
              <a:ext uri="{FF2B5EF4-FFF2-40B4-BE49-F238E27FC236}">
                <a16:creationId xmlns:a16="http://schemas.microsoft.com/office/drawing/2014/main" id="{C4525A63-9FD1-4087-8B40-1F515776EA4D}"/>
              </a:ext>
            </a:extLst>
          </p:cNvPr>
          <p:cNvSpPr>
            <a:spLocks noGrp="1"/>
          </p:cNvSpPr>
          <p:nvPr/>
        </p:nvSpPr>
        <p:spPr>
          <a:xfrm>
            <a:off x="1190740" y="3383508"/>
            <a:ext cx="3326176" cy="707559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4000">
                <a:solidFill>
                  <a:schemeClr val="tx2">
                    <a:lumMod val="20000"/>
                    <a:lumOff val="80000"/>
                    <a:alpha val="30000"/>
                  </a:schemeClr>
                </a:solidFill>
              </a:rPr>
              <a:t>CONTENTS</a:t>
            </a:r>
          </a:p>
        </p:txBody>
      </p:sp>
      <p:sp>
        <p:nvSpPr>
          <p:cNvPr id="112" name="标题 1">
            <a:extLst>
              <a:ext uri="{FF2B5EF4-FFF2-40B4-BE49-F238E27FC236}">
                <a16:creationId xmlns:a16="http://schemas.microsoft.com/office/drawing/2014/main" id="{7064D953-EB01-4609-A709-4AE824832DDD}"/>
              </a:ext>
            </a:extLst>
          </p:cNvPr>
          <p:cNvSpPr>
            <a:spLocks noGrp="1"/>
          </p:cNvSpPr>
          <p:nvPr/>
        </p:nvSpPr>
        <p:spPr>
          <a:xfrm>
            <a:off x="364475" y="2361991"/>
            <a:ext cx="4978706" cy="1021517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2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6600">
                <a:solidFill>
                  <a:srgbClr val="080A12"/>
                </a:solidFill>
              </a:rPr>
              <a:t>目录</a:t>
            </a:r>
          </a:p>
        </p:txBody>
      </p:sp>
      <p:pic>
        <p:nvPicPr>
          <p:cNvPr id="119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6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0EB9CD-295C-4839-A0C3-DD450D2874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EC0769-FF38-4FD6-A67A-4C8F8EAA9D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262EA0-35BE-4FE0-9FFE-813D08B28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21AEE018-2039-43F2-996A-C642FFA19925}"/>
              </a:ext>
            </a:extLst>
          </p:cNvPr>
          <p:cNvSpPr>
            <a:spLocks noGrp="1"/>
          </p:cNvSpPr>
          <p:nvPr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anchor="ctr">
            <a:sp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01</a:t>
            </a:r>
          </a:p>
        </p:txBody>
      </p:sp>
      <p:sp>
        <p:nvSpPr>
          <p:cNvPr id="29" name="文本占位符 17">
            <a:extLst>
              <a:ext uri="{FF2B5EF4-FFF2-40B4-BE49-F238E27FC236}">
                <a16:creationId xmlns:a16="http://schemas.microsoft.com/office/drawing/2014/main" id="{508EF97E-851F-4E87-907E-75A7D6577E6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>
              <a:buNone/>
            </a:pPr>
            <a:r>
              <a:t>项目介绍</a:t>
            </a:r>
          </a:p>
        </p:txBody>
      </p:sp>
      <p:sp>
        <p:nvSpPr>
          <p:cNvPr id="42" name="文本占位符 41">
            <a:extLst>
              <a:ext uri="{FF2B5EF4-FFF2-40B4-BE49-F238E27FC236}">
                <a16:creationId xmlns:a16="http://schemas.microsoft.com/office/drawing/2014/main" id="{265F42FA-A05E-4623-8B56-BA3295D6848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DC05E8-7C27-4986-9104-DE7CFB0C0E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29838C-740F-4451-AD3C-DE458E9784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061341-EDD9-462E-90ED-8891A640FE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E535D576-9FDB-4FBA-89D8-6C982FC90A6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53463569-CE79-4A87-BA2E-EDBD56CA07A9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F5879D14-8463-421E-883D-DEBD99728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1.1 设计背景</a:t>
            </a: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6D41C189-4E60-4FC9-BEC4-556861586633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34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340168-9887-439C-B5AF-D34D8858AD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82D984-B207-48E6-B732-2AFE56A3D5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6923A5-8BA8-41C3-9C09-04B7BDB6F5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8C80D501-7CB4-4B1D-B685-F1775B52772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EBE85B2E-89B0-4191-8FBA-A89DB770418D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2BBA953C-F31B-4B61-92A9-CD458EDA10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1.2 设计目标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BB1919FA-39C7-43A4-9F88-A49D7717FA37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2E6123-9E91-4A06-9AA2-4657A409977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743BF5-BBDF-4B9B-8B79-7F8B50D7D5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C91D1B-3621-46C1-B35A-E8B551335C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78C3B75F-18AF-4F63-A6C0-4C1A4110A4A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FEAE09B5-6F45-4F2D-9578-1CE770C0A5B6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5F81F11B-2BB1-4F1A-95D1-6BFA40F5C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1.3 设计简介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D0313A73-B2A5-41EA-ADB6-0354D22CF049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80658-345C-41D5-8EB6-413984C3D6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3CF1A3-4E28-4230-866E-ADBFC1C975A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1E8582-3969-405D-9049-27B4D8249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6F4D79E-A799-42B9-87BE-49D145EBE6D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E12E0537-44AC-4EBA-9C4F-750E38BE8AB0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69075EE7-947B-4ECF-865B-404F92453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1.4 作品原创性情况说明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8A8D5C3A-C36A-419D-A9DF-0E82822DE976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6679AA-412B-4DD4-A261-4FBF29AAA7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F5392B-8BBE-4E5A-8C1F-2B614FC7C9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93F5EA-1B98-4973-B642-09BC071EB6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ECA103C0-8D18-45AD-A649-D9BA51353718}"/>
              </a:ext>
            </a:extLst>
          </p:cNvPr>
          <p:cNvSpPr>
            <a:spLocks noGrp="1"/>
          </p:cNvSpPr>
          <p:nvPr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anchor="ctr">
            <a:sp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02</a:t>
            </a:r>
          </a:p>
        </p:txBody>
      </p:sp>
      <p:sp>
        <p:nvSpPr>
          <p:cNvPr id="15" name="文本占位符 17">
            <a:extLst>
              <a:ext uri="{FF2B5EF4-FFF2-40B4-BE49-F238E27FC236}">
                <a16:creationId xmlns:a16="http://schemas.microsoft.com/office/drawing/2014/main" id="{ED99670B-9D5B-4C5C-A1D9-DD32AC83E8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>
              <a:buNone/>
            </a:pPr>
            <a:r>
              <a:t>项目亮点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E5E24849-E1ED-4A8E-9D2B-B25166DB1D8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29A075-0E6F-4CE1-8D3E-F550B60D65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5D0C07-9AF7-400C-A1E9-AAEE4E5CC1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D8144C-0D8D-4F96-8EE4-BBC8CAA60A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1CB7253F-7D68-4DA5-ADD6-2EA8D5C3161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D33BAFB7-A7D1-4A91-8A93-3184A6C14B7B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B0FEB687-EB44-4178-AD2D-0FB09F0E1E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2.1 功能亮点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B88DB26F-3BB0-4EFB-939E-B22278207C8C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D6A78F-CAB9-4D0F-89AB-581C3CD0B7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28D706-C916-41C7-B408-8B0B549CF8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619111-ACDF-41F3-9029-29D0EA992A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D31B0D69-4C38-44A2-8C69-7F6B41A041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D0EB12F8-CBAC-42FC-84EF-8D4B4A31EA54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EE24670B-4996-4E4F-B722-2CC96F2D6A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2.2 XX亮点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10D6D61D-886C-4C05-9A9F-898A630D2B2B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3AB1E4C2-9925-4E21-864F-38C7363E30DF}"/>
              </a:ext>
            </a:extLst>
          </p:cNvPr>
          <p:cNvSpPr>
            <a:spLocks noGrp="1"/>
          </p:cNvSpPr>
          <p:nvPr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anchor="ctr">
            <a:sp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03</a:t>
            </a:r>
          </a:p>
        </p:txBody>
      </p:sp>
      <p:sp>
        <p:nvSpPr>
          <p:cNvPr id="16" name="文本占位符 17">
            <a:extLst>
              <a:ext uri="{FF2B5EF4-FFF2-40B4-BE49-F238E27FC236}">
                <a16:creationId xmlns:a16="http://schemas.microsoft.com/office/drawing/2014/main" id="{3B5CF9B3-A81D-4B16-B024-33074A8B71A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>
              <a:buNone/>
            </a:pPr>
            <a:r>
              <a:t>技术难点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5D175BE-E5D0-4C6F-95A4-E9749EF0FE2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A0F2E29-98BE-49F0-9477-71E85AD3BE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6B4D2E-59F6-4482-A939-A57E4A9F84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98B765-B82A-4864-B94A-2777421703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2C00A8C-3153-43E6-AD0A-4267A0AFC84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210483D5-89F1-47EA-96A6-F6FD6424F8D9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7482950A-7AE8-4110-9CD5-D3DAFED0D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3.1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2D0747D6-92D3-4876-A5C0-9922F43732D9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045554-CBAD-43A1-A562-896ED33B86D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1C3AB1-7393-4925-9D23-4F4AF337D0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0B8643-8037-4002-92C4-2A916691C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A562C941-6477-4D4B-A2C0-6BFD0AEF712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DAE6F3A2-483E-4DC5-8162-2DF84101D54B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42A718FE-8BF0-49B8-8324-5C3AAE8E4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3.2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D325A4D6-94FB-43BE-A609-79B2947DD2D2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F2D558E6-59EC-4FC0-8506-FB835BE5EF76}"/>
              </a:ext>
            </a:extLst>
          </p:cNvPr>
          <p:cNvSpPr>
            <a:spLocks noGrp="1"/>
          </p:cNvSpPr>
          <p:nvPr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anchor="ctr">
            <a:sp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04</a:t>
            </a:r>
          </a:p>
        </p:txBody>
      </p:sp>
      <p:sp>
        <p:nvSpPr>
          <p:cNvPr id="16" name="文本占位符 17">
            <a:extLst>
              <a:ext uri="{FF2B5EF4-FFF2-40B4-BE49-F238E27FC236}">
                <a16:creationId xmlns:a16="http://schemas.microsoft.com/office/drawing/2014/main" id="{DE613D66-CF2C-4948-8B19-D2B363AA2B0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>
              <a:buNone/>
            </a:pPr>
            <a:r>
              <a:t>项目测试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EAA562E-2A29-48A6-A67F-D5071913EA8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8AFBA0-84A6-4A90-B833-E2B493E889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3710D3-0ED4-4BA4-BB04-4E3832C66C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C488F4-1902-4BFB-8828-D0C27C9AC7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FB02BBE7-3646-41F1-8002-2B9B33BA8E1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9218" y="1445886"/>
            <a:ext cx="11133563" cy="4622027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>
              <a:ext uri="{FF2B5EF4-FFF2-40B4-BE49-F238E27FC236}">
                <a16:creationId xmlns:a16="http://schemas.microsoft.com/office/drawing/2014/main" id="{7FE64B69-8BEC-49CA-9B35-50FD1B00CDE3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060FDA80-BE29-4AED-A5BD-E5A5B5A81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4.1 项目测试结果说明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FAA19222-0385-4092-AD59-88269D33A52D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6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679EC5-C520-436B-A955-206CF5D0B3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A4B4B6-70DF-4085-B59A-4778AD82E3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EEAC1A-C4E0-422D-896B-714AE59ECA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4D691CCE-918E-471A-8E7B-F6ED941E6DA9}"/>
              </a:ext>
            </a:extLst>
          </p:cNvPr>
          <p:cNvSpPr>
            <a:spLocks noGrp="1"/>
          </p:cNvSpPr>
          <p:nvPr/>
        </p:nvSpPr>
        <p:spPr>
          <a:xfrm>
            <a:off x="2316480" y="2591380"/>
            <a:ext cx="2661920" cy="838835"/>
          </a:xfrm>
          <a:prstGeom prst="rect">
            <a:avLst/>
          </a:prstGeom>
          <a:noFill/>
        </p:spPr>
        <p:txBody>
          <a:bodyPr vert="horz" wrap="square" lIns="90000" tIns="45720" rIns="91440" bIns="45720" anchor="ctr">
            <a:sp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88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05</a:t>
            </a:r>
          </a:p>
        </p:txBody>
      </p:sp>
      <p:sp>
        <p:nvSpPr>
          <p:cNvPr id="16" name="文本占位符 17">
            <a:extLst>
              <a:ext uri="{FF2B5EF4-FFF2-40B4-BE49-F238E27FC236}">
                <a16:creationId xmlns:a16="http://schemas.microsoft.com/office/drawing/2014/main" id="{A141DE2D-8A30-48B8-9F2D-651E3D7B478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2421" y="2453241"/>
            <a:ext cx="4304799" cy="1115113"/>
          </a:xfrm>
        </p:spPr>
        <p:txBody>
          <a:bodyPr lIns="90000" anchor="ctr">
            <a:noAutofit/>
          </a:bodyPr>
          <a:lstStyle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>
              <a:buNone/>
            </a:pPr>
            <a:r>
              <a:t>作品演示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683A896-B86A-4BA6-B291-2CFF2165A83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330450" y="3770630"/>
            <a:ext cx="7531100" cy="972185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仅标题"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2FDC90-432E-44A2-8E7C-81B7B3E2E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98B7D2-B185-42BF-83C7-B9A44A1521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B6BD49-DC8C-4661-983B-8C3AFA956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6" name="媒体占位符 5">
            <a:extLst>
              <a:ext uri="{FF2B5EF4-FFF2-40B4-BE49-F238E27FC236}">
                <a16:creationId xmlns:a16="http://schemas.microsoft.com/office/drawing/2014/main" id="{D836D8BB-AEC0-4AB3-BFBD-D622E98604B4}"/>
              </a:ext>
            </a:extLst>
          </p:cNvPr>
          <p:cNvSpPr>
            <a:spLocks noGrp="1"/>
          </p:cNvSpPr>
          <p:nvPr>
            <p:ph type="media" idx="15"/>
          </p:nvPr>
        </p:nvSpPr>
        <p:spPr>
          <a:xfrm>
            <a:off x="529218" y="1419861"/>
            <a:ext cx="11133563" cy="4648052"/>
          </a:xfrm>
        </p:spPr>
        <p:txBody>
          <a:bodyPr/>
          <a:lstStyle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</a:lstStyle>
          <a:p>
            <a:endParaRPr/>
          </a:p>
        </p:txBody>
      </p:sp>
      <p:sp>
        <p:nvSpPr>
          <p:cNvPr id="8" name="任意形状 24">
            <a:extLst>
              <a:ext uri="{FF2B5EF4-FFF2-40B4-BE49-F238E27FC236}">
                <a16:creationId xmlns:a16="http://schemas.microsoft.com/office/drawing/2014/main" id="{1350CD9D-8D49-488E-864B-C82DD5293215}"/>
              </a:ext>
            </a:extLst>
          </p:cNvPr>
          <p:cNvSpPr>
            <a:spLocks noGrp="1"/>
          </p:cNvSpPr>
          <p:nvPr/>
        </p:nvSpPr>
        <p:spPr>
          <a:xfrm>
            <a:off x="1" y="6533215"/>
            <a:ext cx="12192553" cy="214286"/>
          </a:xfrm>
          <a:custGeom>
            <a:avLst/>
            <a:gdLst>
              <a:gd name="connsiteX0" fmla="*/ 12080953 w 12192553"/>
              <a:gd name="connsiteY0" fmla="*/ 0 h 214286"/>
              <a:gd name="connsiteX1" fmla="*/ 12192553 w 12192553"/>
              <a:gd name="connsiteY1" fmla="*/ 0 h 214286"/>
              <a:gd name="connsiteX2" fmla="*/ 12192553 w 12192553"/>
              <a:gd name="connsiteY2" fmla="*/ 214286 h 214286"/>
              <a:gd name="connsiteX3" fmla="*/ 12080953 w 12192553"/>
              <a:gd name="connsiteY3" fmla="*/ 214286 h 214286"/>
              <a:gd name="connsiteX4" fmla="*/ 11883483 w 12192553"/>
              <a:gd name="connsiteY4" fmla="*/ 0 h 214286"/>
              <a:gd name="connsiteX5" fmla="*/ 11995083 w 12192553"/>
              <a:gd name="connsiteY5" fmla="*/ 0 h 214286"/>
              <a:gd name="connsiteX6" fmla="*/ 11995083 w 12192553"/>
              <a:gd name="connsiteY6" fmla="*/ 214286 h 214286"/>
              <a:gd name="connsiteX7" fmla="*/ 11883483 w 12192553"/>
              <a:gd name="connsiteY7" fmla="*/ 214286 h 214286"/>
              <a:gd name="connsiteX8" fmla="*/ 11686013 w 12192553"/>
              <a:gd name="connsiteY8" fmla="*/ 0 h 214286"/>
              <a:gd name="connsiteX9" fmla="*/ 11797613 w 12192553"/>
              <a:gd name="connsiteY9" fmla="*/ 0 h 214286"/>
              <a:gd name="connsiteX10" fmla="*/ 11797613 w 12192553"/>
              <a:gd name="connsiteY10" fmla="*/ 214286 h 214286"/>
              <a:gd name="connsiteX11" fmla="*/ 11686013 w 12192553"/>
              <a:gd name="connsiteY11" fmla="*/ 214286 h 214286"/>
              <a:gd name="connsiteX12" fmla="*/ 0 w 12192553"/>
              <a:gd name="connsiteY12" fmla="*/ 0 h 214286"/>
              <a:gd name="connsiteX13" fmla="*/ 11588399 w 12192553"/>
              <a:gd name="connsiteY13" fmla="*/ 0 h 214286"/>
              <a:gd name="connsiteX14" fmla="*/ 11588399 w 12192553"/>
              <a:gd name="connsiteY14" fmla="*/ 214286 h 214286"/>
              <a:gd name="connsiteX15" fmla="*/ 0 w 12192553"/>
              <a:gd name="connsiteY15" fmla="*/ 214286 h 214286"/>
            </a:gdLst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6093A874-6A63-4F44-8FE8-E471C96F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955" y="522605"/>
            <a:ext cx="7624445" cy="49149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5.1 作品演示播放</a:t>
            </a:r>
          </a:p>
        </p:txBody>
      </p:sp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376FE16A-87E3-4903-BB21-CCC15125D512}"/>
              </a:ext>
            </a:extLst>
          </p:cNvPr>
          <p:cNvSpPr>
            <a:spLocks noGrp="1"/>
          </p:cNvSpPr>
          <p:nvPr/>
        </p:nvSpPr>
        <p:spPr>
          <a:xfrm>
            <a:off x="589280" y="1022985"/>
            <a:ext cx="793750" cy="78105"/>
          </a:xfrm>
          <a:custGeom>
            <a:avLst/>
            <a:gdLst>
              <a:gd name="adj" fmla="val 84552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>
            <a:fillRect/>
          </a:stretch>
        </p:blipFill>
        <p:spPr>
          <a:xfrm>
            <a:off x="8815705" y="137795"/>
            <a:ext cx="3376291" cy="597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11"/>
          <p:cNvPicPr>
            <a:picLocks noChangeAspect="1"/>
          </p:cNvPicPr>
          <p:nvPr/>
        </p:nvPicPr>
        <p:blipFill>
          <a:blip r:embed="rId2"/>
          <a:srcRect l="5" r="5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  <p:sp>
        <p:nvSpPr>
          <p:cNvPr id="37" name="标题 1">
            <a:extLst>
              <a:ext uri="{FF2B5EF4-FFF2-40B4-BE49-F238E27FC236}">
                <a16:creationId xmlns:a16="http://schemas.microsoft.com/office/drawing/2014/main" id="{1B832D11-6772-4337-8950-FFB80F554C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7605" y="1861820"/>
            <a:ext cx="9876790" cy="175895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buNone/>
              <a:defRPr sz="6000" b="1" i="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单击此处编辑结束语</a:t>
            </a:r>
          </a:p>
        </p:txBody>
      </p:sp>
      <p:sp>
        <p:nvSpPr>
          <p:cNvPr id="38" name="日期占位符 3">
            <a:extLst>
              <a:ext uri="{FF2B5EF4-FFF2-40B4-BE49-F238E27FC236}">
                <a16:creationId xmlns:a16="http://schemas.microsoft.com/office/drawing/2014/main" id="{36E7C3D3-F5CB-49E2-BF10-DEB42373A84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39" name="页脚占位符 4">
            <a:extLst>
              <a:ext uri="{FF2B5EF4-FFF2-40B4-BE49-F238E27FC236}">
                <a16:creationId xmlns:a16="http://schemas.microsoft.com/office/drawing/2014/main" id="{03ADCA09-5233-4228-8A7B-816DA4ADF9B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40" name="灯片编号占位符 5">
            <a:extLst>
              <a:ext uri="{FF2B5EF4-FFF2-40B4-BE49-F238E27FC236}">
                <a16:creationId xmlns:a16="http://schemas.microsoft.com/office/drawing/2014/main" id="{94FF338B-7958-49C2-867C-4F9E4EDFFC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  <p:sp>
        <p:nvSpPr>
          <p:cNvPr id="4" name="文本占位符 9">
            <a:extLst>
              <a:ext uri="{FF2B5EF4-FFF2-40B4-BE49-F238E27FC236}">
                <a16:creationId xmlns:a16="http://schemas.microsoft.com/office/drawing/2014/main" id="{DF0406DF-BD59-41D4-9458-B4B8A8E83D0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099050" y="4641215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编辑队伍名称 禁止出现学校和成员信息</a:t>
            </a:r>
          </a:p>
          <a:p>
            <a:pPr>
              <a:buNone/>
            </a:pPr>
            <a:endParaRPr/>
          </a:p>
        </p:txBody>
      </p:sp>
      <p:sp>
        <p:nvSpPr>
          <p:cNvPr id="7" name="文本占位符 9">
            <a:extLst>
              <a:ext uri="{FF2B5EF4-FFF2-40B4-BE49-F238E27FC236}">
                <a16:creationId xmlns:a16="http://schemas.microsoft.com/office/drawing/2014/main" id="{4538A81F-A7A7-4AD7-9770-3BDDA23D9A25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099050" y="5077460"/>
            <a:ext cx="3866515" cy="290195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编辑完成日期 禁止出现学校和成员信息</a:t>
            </a:r>
          </a:p>
          <a:p>
            <a:pPr>
              <a:buNone/>
            </a:pPr>
            <a:endParaRPr/>
          </a:p>
        </p:txBody>
      </p:sp>
      <p:sp>
        <p:nvSpPr>
          <p:cNvPr id="9" name="文本占位符 9">
            <a:extLst>
              <a:ext uri="{FF2B5EF4-FFF2-40B4-BE49-F238E27FC236}">
                <a16:creationId xmlns:a16="http://schemas.microsoft.com/office/drawing/2014/main" id="{4ACF42D5-958F-411F-A9A8-B4C88492150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937218" y="4640664"/>
            <a:ext cx="1161805" cy="290369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参赛团队：</a:t>
            </a:r>
          </a:p>
        </p:txBody>
      </p:sp>
      <p:sp>
        <p:nvSpPr>
          <p:cNvPr id="54" name="文本占位符 9">
            <a:extLst>
              <a:ext uri="{FF2B5EF4-FFF2-40B4-BE49-F238E27FC236}">
                <a16:creationId xmlns:a16="http://schemas.microsoft.com/office/drawing/2014/main" id="{BAC39844-A878-44D9-A5BF-47669096F9F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3937218" y="5077480"/>
            <a:ext cx="1161805" cy="290371"/>
          </a:xfr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>
            <a:pPr>
              <a:buNone/>
            </a:pPr>
            <a:r>
              <a:t>完成日期：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EC077-E4D7-45FB-96BD-FC685853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B821ED-B080-495A-B7EB-812FCC38E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ACB9A-C4F2-45AE-9569-6E3E134F0D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0B07D-37F5-4B85-9728-794774FBDE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C58AE4-273B-4AAB-B019-B06926C756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BF675-5472-462C-B453-924F5E1BE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62D66-0F04-481D-B18A-3640E7550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364C40-74F7-4E58-B8C6-54BE83AD48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F500D9-4EE8-4708-9A2F-EC72757C4F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12560C-B012-45EF-8BE4-E2B1D82DC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7E1BE-B8C8-4C8C-B6BE-68303848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8ACEE3-5F80-401D-8370-FA82A190D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38E15F-D781-4986-A2AC-BEC345E12E0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774055-7F46-424D-8B51-715166BEB4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501A8-ACDB-4ED8-9844-5EE1BD20F7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6657D5-38C0-4D4E-A7D7-C4C3480445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0626C-A68E-40D0-944C-DC400973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8E72B6-10D0-401C-B6F3-2C71FF57D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7E81C9-6980-420A-8102-22CABCEAAD8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FAACA1-1377-43E1-941A-3DD1835933D3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99E6B7-00D6-4022-ADE0-E5584F65743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4E58F7-A8CE-4B4F-BE1B-0AA66A8B04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5F2F55-97AD-455A-8607-87E01E4158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FDCA12-5529-4D85-8399-1CC239208F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E30E84-6E6C-4958-B328-40601275C3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46DC38-734D-43D2-847B-6325FA26C7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3AB5B1-08FE-4AC0-943F-3333BD746E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9B9BE-6716-4A52-849B-DC21C2D2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AC096-E6EE-4363-83CC-B040D8694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D99EF2-767B-4DF6-AB78-6A4C6F08E6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04696F-F0E1-4262-AC3D-299AFB5C79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C1BC55-685C-43C3-8BDD-B57CF6D7CF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939447-E6EE-48D1-BA2E-E195CA5302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037E1-034B-4A85-B860-524999FFA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4CEB1C-DA81-4158-BF70-2ED839EF9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78D54F-562D-4F34-99F3-76A915D124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EF9DB1-08F4-4C0B-8344-54782A9219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0B9C5B-93D7-4E75-BD0E-90B7036AB9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B86E5B-DDE7-4C6F-A685-58951104DA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AD701-D520-4970-9210-01A8B6378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0C995B-3710-4B6A-B098-30A3F864B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E76394-D217-4C25-AAA2-C6C89288F6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99D817-EE78-4EBC-A8AA-55779C82D0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CB34BE-903D-4E12-9A89-E6866A36BB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042EFD-84BB-453F-812E-3E235FA43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5D7CC5-D25C-4EA8-9F6D-FE4EA71DA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A4A1C8-C7C0-41E7-9CC1-A01CAED9E1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6BF7F-C1DC-48F8-8744-27F44D2BAD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4DAB12-E93B-4588-9170-3FF0CAD2B9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0B36D65-86F8-1345-A972-51E3FE9D245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41588D-ABDE-4BB7-B902-DDC6A2D7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BE649-50CC-437A-AADA-BAA18D6F1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6B639-F6BF-41D3-839F-AD8A1E9C813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00916-396A-A444-B6A6-572F44C7530F}" type="datetimeFigureOut">
              <a:t>2026/7/29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6F57BF-CAB1-4EF1-98FB-9D2D7A78263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A48C0B-5C78-441F-8613-16A41731159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6D65-86F8-1345-A972-51E3FE9D245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标题 43">
            <a:extLst>
              <a:ext uri="{FF2B5EF4-FFF2-40B4-BE49-F238E27FC236}">
                <a16:creationId xmlns:a16="http://schemas.microsoft.com/office/drawing/2014/main" id="{85175602-5A48-4FBE-945A-DE8E9E6F6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5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SchedX-Agent</a:t>
            </a:r>
          </a:p>
        </p:txBody>
      </p:sp>
      <p:sp>
        <p:nvSpPr>
          <p:cNvPr id="46" name="文本占位符 45">
            <a:extLst>
              <a:ext uri="{FF2B5EF4-FFF2-40B4-BE49-F238E27FC236}">
                <a16:creationId xmlns:a16="http://schemas.microsoft.com/office/drawing/2014/main" id="{02B8FF82-DB3F-4590-9FFC-FB94BF18473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099050" y="4639945"/>
            <a:ext cx="3971290" cy="290195"/>
          </a:xfrm>
        </p:spPr>
        <p:txBody>
          <a:bodyPr/>
          <a:lstStyle/>
          <a:p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 Lab</a:t>
            </a:r>
          </a:p>
        </p:txBody>
      </p:sp>
      <p:sp>
        <p:nvSpPr>
          <p:cNvPr id="49" name="文本占位符 48">
            <a:extLst>
              <a:ext uri="{FF2B5EF4-FFF2-40B4-BE49-F238E27FC236}">
                <a16:creationId xmlns:a16="http://schemas.microsoft.com/office/drawing/2014/main" id="{7161093B-72DF-4C76-ADCE-2B74E4EF21C8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099050" y="5077460"/>
            <a:ext cx="3997960" cy="290195"/>
          </a:xfrm>
        </p:spPr>
        <p:txBody>
          <a:bodyPr/>
          <a:lstStyle/>
          <a:p>
            <a:r>
              <a:rPr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2026年7月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</a:t>
            </a:r>
            <a:endParaRPr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文本占位符 50">
            <a:extLst>
              <a:ext uri="{FF2B5EF4-FFF2-40B4-BE49-F238E27FC236}">
                <a16:creationId xmlns:a16="http://schemas.microsoft.com/office/drawing/2014/main" id="{DDC983FC-6704-42E6-A00C-E118AF50D14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937218" y="4640664"/>
            <a:ext cx="1161805" cy="290369"/>
          </a:xfrm>
        </p:spPr>
        <p:txBody>
          <a:bodyPr/>
          <a:lstStyle/>
          <a:p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参赛团队：</a:t>
            </a:r>
          </a:p>
        </p:txBody>
      </p:sp>
      <p:sp>
        <p:nvSpPr>
          <p:cNvPr id="54" name="文本占位符 53">
            <a:extLst>
              <a:ext uri="{FF2B5EF4-FFF2-40B4-BE49-F238E27FC236}">
                <a16:creationId xmlns:a16="http://schemas.microsoft.com/office/drawing/2014/main" id="{13E5094E-CF02-44C6-B7F7-CBBB97CFDC99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完成日期：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884FD7-083F-43F2-B2FE-212B1333964A}"/>
              </a:ext>
            </a:extLst>
          </p:cNvPr>
          <p:cNvSpPr>
            <a:spLocks noGrp="1"/>
          </p:cNvSpPr>
          <p:nvPr/>
        </p:nvSpPr>
        <p:spPr>
          <a:xfrm>
            <a:off x="8241030" y="58483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B05F38-4C7E-41F1-A5D9-71269115E707}"/>
              </a:ext>
            </a:extLst>
          </p:cNvPr>
          <p:cNvSpPr>
            <a:spLocks noGrp="1"/>
          </p:cNvSpPr>
          <p:nvPr/>
        </p:nvSpPr>
        <p:spPr>
          <a:xfrm>
            <a:off x="2667000" y="2814023"/>
            <a:ext cx="6858000" cy="33855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 Linux 的自适应资源管控 Agent</a:t>
            </a:r>
          </a:p>
        </p:txBody>
      </p:sp>
    </p:spTree>
    <p:extLst>
      <p:ext uri="{BB962C8B-B14F-4D97-AF65-F5344CB8AC3E}">
        <p14:creationId xmlns:p14="http://schemas.microsoft.com/office/powerpoint/2010/main" val="25808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>
            <a:extLst>
              <a:ext uri="{FF2B5EF4-FFF2-40B4-BE49-F238E27FC236}">
                <a16:creationId xmlns:a16="http://schemas.microsoft.com/office/drawing/2014/main" id="{4E7DAEEB-02B8-48EF-BEE3-D905B1C6A269}"/>
              </a:ext>
            </a:extLst>
          </p:cNvPr>
          <p:cNvSpPr>
            <a:spLocks noGrp="1"/>
          </p:cNvSpPr>
          <p:nvPr/>
        </p:nvSpPr>
        <p:spPr>
          <a:xfrm>
            <a:off x="5092065" y="14966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任意形状 10">
            <a:extLst>
              <a:ext uri="{FF2B5EF4-FFF2-40B4-BE49-F238E27FC236}">
                <a16:creationId xmlns:a16="http://schemas.microsoft.com/office/drawing/2014/main" id="{EA78CC10-4249-4ADF-84FD-D59C148887EE}"/>
              </a:ext>
            </a:extLst>
          </p:cNvPr>
          <p:cNvSpPr>
            <a:spLocks noGrp="1"/>
          </p:cNvSpPr>
          <p:nvPr/>
        </p:nvSpPr>
        <p:spPr>
          <a:xfrm rot="5400000">
            <a:off x="5560060" y="13785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/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F6C3699-0448-4A74-A2D4-522D936361C8}"/>
              </a:ext>
            </a:extLst>
          </p:cNvPr>
          <p:cNvSpPr>
            <a:spLocks noGrp="1"/>
          </p:cNvSpPr>
          <p:nvPr/>
        </p:nvSpPr>
        <p:spPr>
          <a:xfrm>
            <a:off x="5485765" y="1591310"/>
            <a:ext cx="7969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01</a:t>
            </a:r>
          </a:p>
        </p:txBody>
      </p:sp>
      <p:sp>
        <p:nvSpPr>
          <p:cNvPr id="115" name="圆角矩形 114">
            <a:extLst>
              <a:ext uri="{FF2B5EF4-FFF2-40B4-BE49-F238E27FC236}">
                <a16:creationId xmlns:a16="http://schemas.microsoft.com/office/drawing/2014/main" id="{CA208385-3FF4-4A21-A2EF-CE37A11CF492}"/>
              </a:ext>
            </a:extLst>
          </p:cNvPr>
          <p:cNvSpPr>
            <a:spLocks noGrp="1"/>
          </p:cNvSpPr>
          <p:nvPr/>
        </p:nvSpPr>
        <p:spPr>
          <a:xfrm>
            <a:off x="5092065" y="243967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6" name="任意形状 10">
            <a:extLst>
              <a:ext uri="{FF2B5EF4-FFF2-40B4-BE49-F238E27FC236}">
                <a16:creationId xmlns:a16="http://schemas.microsoft.com/office/drawing/2014/main" id="{3C9E1AD9-C1E5-400B-9BA5-B48CDCF1004F}"/>
              </a:ext>
            </a:extLst>
          </p:cNvPr>
          <p:cNvSpPr>
            <a:spLocks noGrp="1"/>
          </p:cNvSpPr>
          <p:nvPr/>
        </p:nvSpPr>
        <p:spPr>
          <a:xfrm rot="5400000">
            <a:off x="5560060" y="232156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/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75510549-5F30-417A-AA75-DA50A4B21B4B}"/>
              </a:ext>
            </a:extLst>
          </p:cNvPr>
          <p:cNvSpPr>
            <a:spLocks noGrp="1"/>
          </p:cNvSpPr>
          <p:nvPr/>
        </p:nvSpPr>
        <p:spPr>
          <a:xfrm>
            <a:off x="5485765" y="2534285"/>
            <a:ext cx="7969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02</a:t>
            </a:r>
          </a:p>
        </p:txBody>
      </p:sp>
      <p:sp>
        <p:nvSpPr>
          <p:cNvPr id="120" name="圆角矩形 119">
            <a:extLst>
              <a:ext uri="{FF2B5EF4-FFF2-40B4-BE49-F238E27FC236}">
                <a16:creationId xmlns:a16="http://schemas.microsoft.com/office/drawing/2014/main" id="{C14E27D3-AAF4-45CB-B58E-BFF18A8D48DD}"/>
              </a:ext>
            </a:extLst>
          </p:cNvPr>
          <p:cNvSpPr>
            <a:spLocks noGrp="1"/>
          </p:cNvSpPr>
          <p:nvPr/>
        </p:nvSpPr>
        <p:spPr>
          <a:xfrm>
            <a:off x="5092065" y="338264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1" name="任意形状 10">
            <a:extLst>
              <a:ext uri="{FF2B5EF4-FFF2-40B4-BE49-F238E27FC236}">
                <a16:creationId xmlns:a16="http://schemas.microsoft.com/office/drawing/2014/main" id="{BE76318A-5910-4A8F-96A0-1326C60A5EC6}"/>
              </a:ext>
            </a:extLst>
          </p:cNvPr>
          <p:cNvSpPr>
            <a:spLocks noGrp="1"/>
          </p:cNvSpPr>
          <p:nvPr/>
        </p:nvSpPr>
        <p:spPr>
          <a:xfrm rot="5400000">
            <a:off x="5560060" y="326453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/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990356E-06A2-4235-BBE7-8C5DD15CE8EC}"/>
              </a:ext>
            </a:extLst>
          </p:cNvPr>
          <p:cNvSpPr>
            <a:spLocks noGrp="1"/>
          </p:cNvSpPr>
          <p:nvPr/>
        </p:nvSpPr>
        <p:spPr>
          <a:xfrm>
            <a:off x="5485765" y="3477260"/>
            <a:ext cx="7969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03</a:t>
            </a:r>
          </a:p>
        </p:txBody>
      </p:sp>
      <p:sp>
        <p:nvSpPr>
          <p:cNvPr id="125" name="圆角矩形 124">
            <a:extLst>
              <a:ext uri="{FF2B5EF4-FFF2-40B4-BE49-F238E27FC236}">
                <a16:creationId xmlns:a16="http://schemas.microsoft.com/office/drawing/2014/main" id="{5367B68E-A6A2-4C80-B9D4-EE3D12F564AC}"/>
              </a:ext>
            </a:extLst>
          </p:cNvPr>
          <p:cNvSpPr>
            <a:spLocks noGrp="1"/>
          </p:cNvSpPr>
          <p:nvPr/>
        </p:nvSpPr>
        <p:spPr>
          <a:xfrm>
            <a:off x="5092065" y="4325620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6" name="任意形状 10">
            <a:extLst>
              <a:ext uri="{FF2B5EF4-FFF2-40B4-BE49-F238E27FC236}">
                <a16:creationId xmlns:a16="http://schemas.microsoft.com/office/drawing/2014/main" id="{84AF8CE3-E374-4C89-9EB9-8AE22C2714D7}"/>
              </a:ext>
            </a:extLst>
          </p:cNvPr>
          <p:cNvSpPr>
            <a:spLocks noGrp="1"/>
          </p:cNvSpPr>
          <p:nvPr/>
        </p:nvSpPr>
        <p:spPr>
          <a:xfrm rot="5400000">
            <a:off x="5560060" y="4207510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/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90B9B96-A8C8-42DF-9D86-34E7AB724CFD}"/>
              </a:ext>
            </a:extLst>
          </p:cNvPr>
          <p:cNvSpPr>
            <a:spLocks noGrp="1"/>
          </p:cNvSpPr>
          <p:nvPr/>
        </p:nvSpPr>
        <p:spPr>
          <a:xfrm>
            <a:off x="5485765" y="4420235"/>
            <a:ext cx="7969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04</a:t>
            </a:r>
          </a:p>
        </p:txBody>
      </p:sp>
      <p:sp>
        <p:nvSpPr>
          <p:cNvPr id="130" name="圆角矩形 129">
            <a:extLst>
              <a:ext uri="{FF2B5EF4-FFF2-40B4-BE49-F238E27FC236}">
                <a16:creationId xmlns:a16="http://schemas.microsoft.com/office/drawing/2014/main" id="{516B81A1-0AA2-4356-AEAA-EE97B6C46ADD}"/>
              </a:ext>
            </a:extLst>
          </p:cNvPr>
          <p:cNvSpPr>
            <a:spLocks noGrp="1"/>
          </p:cNvSpPr>
          <p:nvPr/>
        </p:nvSpPr>
        <p:spPr>
          <a:xfrm>
            <a:off x="5092065" y="5268595"/>
            <a:ext cx="5114925" cy="74104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1" name="任意形状 10">
            <a:extLst>
              <a:ext uri="{FF2B5EF4-FFF2-40B4-BE49-F238E27FC236}">
                <a16:creationId xmlns:a16="http://schemas.microsoft.com/office/drawing/2014/main" id="{034C1A87-7D78-4472-8A02-262E610276E3}"/>
              </a:ext>
            </a:extLst>
          </p:cNvPr>
          <p:cNvSpPr>
            <a:spLocks noGrp="1"/>
          </p:cNvSpPr>
          <p:nvPr/>
        </p:nvSpPr>
        <p:spPr>
          <a:xfrm rot="5400000">
            <a:off x="5560060" y="5150485"/>
            <a:ext cx="784860" cy="933450"/>
          </a:xfrm>
          <a:custGeom>
            <a:avLst/>
            <a:gdLst>
              <a:gd name="connsiteX0" fmla="*/ 0 w 1021517"/>
              <a:gd name="connsiteY0" fmla="*/ 1048944 h 1219200"/>
              <a:gd name="connsiteX1" fmla="*/ 0 w 1021517"/>
              <a:gd name="connsiteY1" fmla="*/ 343438 h 1219200"/>
              <a:gd name="connsiteX2" fmla="*/ 170256 w 1021517"/>
              <a:gd name="connsiteY2" fmla="*/ 173182 h 1219200"/>
              <a:gd name="connsiteX3" fmla="*/ 412580 w 1021517"/>
              <a:gd name="connsiteY3" fmla="*/ 173182 h 1219200"/>
              <a:gd name="connsiteX4" fmla="*/ 513025 w 1021517"/>
              <a:gd name="connsiteY4" fmla="*/ 0 h 1219200"/>
              <a:gd name="connsiteX5" fmla="*/ 613470 w 1021517"/>
              <a:gd name="connsiteY5" fmla="*/ 173182 h 1219200"/>
              <a:gd name="connsiteX6" fmla="*/ 851261 w 1021517"/>
              <a:gd name="connsiteY6" fmla="*/ 173182 h 1219200"/>
              <a:gd name="connsiteX7" fmla="*/ 1021517 w 1021517"/>
              <a:gd name="connsiteY7" fmla="*/ 343438 h 1219200"/>
              <a:gd name="connsiteX8" fmla="*/ 1021517 w 1021517"/>
              <a:gd name="connsiteY8" fmla="*/ 1048944 h 1219200"/>
              <a:gd name="connsiteX9" fmla="*/ 851261 w 1021517"/>
              <a:gd name="connsiteY9" fmla="*/ 1219200 h 1219200"/>
              <a:gd name="connsiteX10" fmla="*/ 170256 w 1021517"/>
              <a:gd name="connsiteY10" fmla="*/ 1219200 h 1219200"/>
              <a:gd name="connsiteX11" fmla="*/ 0 w 1021517"/>
              <a:gd name="connsiteY11" fmla="*/ 1048944 h 1219200"/>
            </a:gdLst>
            <a:ahLst/>
            <a:cxnLst/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>
            <a:srgbClr val="254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A86294C-8D0E-4835-8BE4-C0B5B994A2D0}"/>
              </a:ext>
            </a:extLst>
          </p:cNvPr>
          <p:cNvSpPr>
            <a:spLocks noGrp="1"/>
          </p:cNvSpPr>
          <p:nvPr/>
        </p:nvSpPr>
        <p:spPr>
          <a:xfrm>
            <a:off x="5485765" y="5363210"/>
            <a:ext cx="7969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05</a:t>
            </a:r>
          </a:p>
        </p:txBody>
      </p:sp>
      <p:sp>
        <p:nvSpPr>
          <p:cNvPr id="33" name="标题 32">
            <a:extLst>
              <a:ext uri="{FF2B5EF4-FFF2-40B4-BE49-F238E27FC236}">
                <a16:creationId xmlns:a16="http://schemas.microsoft.com/office/drawing/2014/main" id="{D2EB5121-4359-455E-9FF9-B885B9869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2750" y="1586865"/>
            <a:ext cx="3072130" cy="521970"/>
          </a:xfr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项目介绍</a:t>
            </a:r>
          </a:p>
        </p:txBody>
      </p:sp>
      <p:sp>
        <p:nvSpPr>
          <p:cNvPr id="2" name="标题 32">
            <a:extLst>
              <a:ext uri="{FF2B5EF4-FFF2-40B4-BE49-F238E27FC236}">
                <a16:creationId xmlns:a16="http://schemas.microsoft.com/office/drawing/2014/main" id="{73797232-8B4B-484C-BC77-30479A0C4FA0}"/>
              </a:ext>
            </a:extLst>
          </p:cNvPr>
          <p:cNvSpPr>
            <a:spLocks noGrp="1"/>
          </p:cNvSpPr>
          <p:nvPr/>
        </p:nvSpPr>
        <p:spPr>
          <a:xfrm>
            <a:off x="6762750" y="25393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项目亮点</a:t>
            </a:r>
          </a:p>
        </p:txBody>
      </p:sp>
      <p:sp>
        <p:nvSpPr>
          <p:cNvPr id="3" name="标题 32">
            <a:extLst>
              <a:ext uri="{FF2B5EF4-FFF2-40B4-BE49-F238E27FC236}">
                <a16:creationId xmlns:a16="http://schemas.microsoft.com/office/drawing/2014/main" id="{00A99ED6-AF8C-402A-A343-BC5B7927285A}"/>
              </a:ext>
            </a:extLst>
          </p:cNvPr>
          <p:cNvSpPr>
            <a:spLocks noGrp="1"/>
          </p:cNvSpPr>
          <p:nvPr/>
        </p:nvSpPr>
        <p:spPr>
          <a:xfrm>
            <a:off x="6762750" y="3466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技术难点</a:t>
            </a:r>
          </a:p>
        </p:txBody>
      </p:sp>
      <p:sp>
        <p:nvSpPr>
          <p:cNvPr id="4" name="标题 32">
            <a:extLst>
              <a:ext uri="{FF2B5EF4-FFF2-40B4-BE49-F238E27FC236}">
                <a16:creationId xmlns:a16="http://schemas.microsoft.com/office/drawing/2014/main" id="{6A1B6DE7-675C-440C-9E12-A2E9AC87DF6F}"/>
              </a:ext>
            </a:extLst>
          </p:cNvPr>
          <p:cNvSpPr>
            <a:spLocks noGrp="1"/>
          </p:cNvSpPr>
          <p:nvPr/>
        </p:nvSpPr>
        <p:spPr>
          <a:xfrm>
            <a:off x="6762750" y="44189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项目测试</a:t>
            </a:r>
          </a:p>
        </p:txBody>
      </p:sp>
      <p:sp>
        <p:nvSpPr>
          <p:cNvPr id="5" name="标题 32">
            <a:extLst>
              <a:ext uri="{FF2B5EF4-FFF2-40B4-BE49-F238E27FC236}">
                <a16:creationId xmlns:a16="http://schemas.microsoft.com/office/drawing/2014/main" id="{D0AF1AE5-E5A2-4C80-B3A1-CB4C5FD4F599}"/>
              </a:ext>
            </a:extLst>
          </p:cNvPr>
          <p:cNvSpPr>
            <a:spLocks noGrp="1"/>
          </p:cNvSpPr>
          <p:nvPr/>
        </p:nvSpPr>
        <p:spPr>
          <a:xfrm>
            <a:off x="6762750" y="5371465"/>
            <a:ext cx="3072130" cy="521970"/>
          </a:xfrm>
          <a:prstGeom prst="rect">
            <a:avLst/>
          </a:prstGeom>
        </p:spPr>
        <p:txBody>
          <a:bodyPr vert="horz" wrap="square" lIns="91440" tIns="45720" rIns="91440" bIns="45720" anchor="ctr">
            <a:spAutoFit/>
          </a:bodyPr>
          <a:lstStyle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作品演示</a:t>
            </a:r>
          </a:p>
        </p:txBody>
      </p:sp>
    </p:spTree>
    <p:extLst>
      <p:ext uri="{BB962C8B-B14F-4D97-AF65-F5344CB8AC3E}">
        <p14:creationId xmlns:p14="http://schemas.microsoft.com/office/powerpoint/2010/main" val="40675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83EBB86-2BC6-475D-A3D7-94F89D284F0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项目介绍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B2CCAE-EE95-4F45-A968-0B65177B71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从混合负载干扰出发，建立可感知、可执行、可验证的闭环</a:t>
            </a:r>
          </a:p>
        </p:txBody>
      </p:sp>
    </p:spTree>
    <p:extLst>
      <p:ext uri="{BB962C8B-B14F-4D97-AF65-F5344CB8AC3E}">
        <p14:creationId xmlns:p14="http://schemas.microsoft.com/office/powerpoint/2010/main" val="10918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0A791F-11F7-4642-8D2C-5419D5A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1.1 默认调度无法直接理解业务 SLO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17AE1C-BF7E-4C60-9D6C-D37E79E64D1B}"/>
              </a:ext>
            </a:extLst>
          </p:cNvPr>
          <p:cNvSpPr>
            <a:spLocks noGrp="1"/>
          </p:cNvSpPr>
          <p:nvPr/>
        </p:nvSpPr>
        <p:spPr>
          <a:xfrm>
            <a:off x="528955" y="1955427"/>
            <a:ext cx="5143500" cy="353943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混合负载的核心矛盾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2AA448-FA5B-4BA3-9F84-6E87DF5C93EF}"/>
              </a:ext>
            </a:extLst>
          </p:cNvPr>
          <p:cNvSpPr>
            <a:spLocks noGrp="1"/>
          </p:cNvSpPr>
          <p:nvPr/>
        </p:nvSpPr>
        <p:spPr>
          <a:xfrm>
            <a:off x="419101" y="2540776"/>
            <a:ext cx="4978400" cy="158594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nginx</a:t>
            </a: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/ Redis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关注</a:t>
            </a: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P99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延迟与可用吞吐</a:t>
            </a:r>
            <a:endParaRPr sz="1700" dirty="0">
              <a:solidFill>
                <a:srgbClr val="12192C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sysbench</a:t>
            </a: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编译任务关注完成时间和</a:t>
            </a: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CPU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利用率</a:t>
            </a:r>
            <a:endParaRPr sz="1700" dirty="0">
              <a:solidFill>
                <a:srgbClr val="12192C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stress-ng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等后台任务会争抢同一组</a:t>
            </a: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CPU</a:t>
            </a:r>
          </a:p>
          <a:p>
            <a:pPr>
              <a:lnSpc>
                <a:spcPct val="125000"/>
              </a:lnSpc>
              <a:spcAft>
                <a:spcPts val="800"/>
              </a:spcAft>
              <a:buNone/>
            </a:pP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7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默认公平性无法表达“谁更重要、何时切换</a:t>
            </a:r>
            <a:r>
              <a:rPr sz="17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”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D0C78F72-499F-4D43-9BF8-FC5DA81B70F3}"/>
              </a:ext>
            </a:extLst>
          </p:cNvPr>
          <p:cNvSpPr>
            <a:spLocks noGrp="1"/>
          </p:cNvSpPr>
          <p:nvPr/>
        </p:nvSpPr>
        <p:spPr>
          <a:xfrm>
            <a:off x="5710820" y="2936594"/>
            <a:ext cx="762000" cy="0"/>
          </a:xfrm>
          <a:prstGeom prst="line">
            <a:avLst/>
          </a:prstGeom>
          <a:ln w="381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A74AE59-ED02-4BEB-BF0E-DB5F1B37B595}"/>
              </a:ext>
            </a:extLst>
          </p:cNvPr>
          <p:cNvSpPr>
            <a:spLocks noGrp="1"/>
          </p:cNvSpPr>
          <p:nvPr/>
        </p:nvSpPr>
        <p:spPr>
          <a:xfrm>
            <a:off x="6794500" y="1714500"/>
            <a:ext cx="4368800" cy="323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9D7049-CBEB-4087-B13D-415C07AB9FFE}"/>
              </a:ext>
            </a:extLst>
          </p:cNvPr>
          <p:cNvSpPr>
            <a:spLocks noGrp="1"/>
          </p:cNvSpPr>
          <p:nvPr/>
        </p:nvSpPr>
        <p:spPr>
          <a:xfrm>
            <a:off x="7124700" y="1824623"/>
            <a:ext cx="3708400" cy="615553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CPU 资源仍可用，但业务已经退化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80E988F-3A16-475D-80BA-338E87BD8F7E}"/>
              </a:ext>
            </a:extLst>
          </p:cNvPr>
          <p:cNvSpPr>
            <a:spLocks noGrp="1"/>
          </p:cNvSpPr>
          <p:nvPr/>
        </p:nvSpPr>
        <p:spPr>
          <a:xfrm>
            <a:off x="7086600" y="2679700"/>
            <a:ext cx="1714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76A515-2CF5-40BB-847F-EF7C1A6C722C}"/>
              </a:ext>
            </a:extLst>
          </p:cNvPr>
          <p:cNvSpPr>
            <a:spLocks noGrp="1"/>
          </p:cNvSpPr>
          <p:nvPr/>
        </p:nvSpPr>
        <p:spPr>
          <a:xfrm>
            <a:off x="7264400" y="2704356"/>
            <a:ext cx="13589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D44247"/>
                </a:solidFill>
                <a:latin typeface="微软雅黑"/>
                <a:ea typeface="微软雅黑"/>
                <a:cs typeface="微软雅黑"/>
              </a:rPr>
              <a:t>P99 ↑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2DAAD9-68B0-4DAB-A187-3B9A5AFBE20F}"/>
              </a:ext>
            </a:extLst>
          </p:cNvPr>
          <p:cNvSpPr>
            <a:spLocks noGrp="1"/>
          </p:cNvSpPr>
          <p:nvPr/>
        </p:nvSpPr>
        <p:spPr>
          <a:xfrm>
            <a:off x="7264400" y="3340472"/>
            <a:ext cx="13589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尾延迟恶化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E31C3D-C37A-4EB2-A628-BB5A584B0AC5}"/>
              </a:ext>
            </a:extLst>
          </p:cNvPr>
          <p:cNvSpPr>
            <a:spLocks noGrp="1"/>
          </p:cNvSpPr>
          <p:nvPr/>
        </p:nvSpPr>
        <p:spPr>
          <a:xfrm>
            <a:off x="9131300" y="2679700"/>
            <a:ext cx="1714500" cy="1333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B17D17A-FE84-4096-8EE2-BEE98DC7CB91}"/>
              </a:ext>
            </a:extLst>
          </p:cNvPr>
          <p:cNvSpPr>
            <a:spLocks noGrp="1"/>
          </p:cNvSpPr>
          <p:nvPr/>
        </p:nvSpPr>
        <p:spPr>
          <a:xfrm>
            <a:off x="9309100" y="2704356"/>
            <a:ext cx="13589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EE8430"/>
                </a:solidFill>
                <a:latin typeface="微软雅黑"/>
                <a:ea typeface="微软雅黑"/>
                <a:cs typeface="微软雅黑"/>
              </a:rPr>
              <a:t>RPS 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099C05-9776-4299-BD9C-24E27037C929}"/>
              </a:ext>
            </a:extLst>
          </p:cNvPr>
          <p:cNvSpPr>
            <a:spLocks noGrp="1"/>
          </p:cNvSpPr>
          <p:nvPr/>
        </p:nvSpPr>
        <p:spPr>
          <a:xfrm>
            <a:off x="9309100" y="3340472"/>
            <a:ext cx="13589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在线吞吐下降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5BDDD5-B8A4-422C-ADE5-7787A9C4A194}"/>
              </a:ext>
            </a:extLst>
          </p:cNvPr>
          <p:cNvSpPr>
            <a:spLocks noGrp="1"/>
          </p:cNvSpPr>
          <p:nvPr/>
        </p:nvSpPr>
        <p:spPr>
          <a:xfrm>
            <a:off x="7150100" y="4146779"/>
            <a:ext cx="3619500" cy="492443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需要让调度策略理解 workload 语义，并对结果负责</a:t>
            </a:r>
          </a:p>
        </p:txBody>
      </p:sp>
    </p:spTree>
    <p:extLst>
      <p:ext uri="{BB962C8B-B14F-4D97-AF65-F5344CB8AC3E}">
        <p14:creationId xmlns:p14="http://schemas.microsoft.com/office/powerpoint/2010/main" val="180412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4C3A861-3A27-47D2-9170-B7D266B7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1.2 目标：形成可验证、可回滚的资源管控闭环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935E48A-AB5D-4A0D-99D2-091285A86B23}"/>
              </a:ext>
            </a:extLst>
          </p:cNvPr>
          <p:cNvSpPr>
            <a:spLocks noGrp="1"/>
          </p:cNvSpPr>
          <p:nvPr/>
        </p:nvSpPr>
        <p:spPr>
          <a:xfrm>
            <a:off x="2019300" y="2984500"/>
            <a:ext cx="3937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4D4A93B-DF1E-40FA-AE38-1F4B117680BD}"/>
              </a:ext>
            </a:extLst>
          </p:cNvPr>
          <p:cNvSpPr>
            <a:spLocks noGrp="1"/>
          </p:cNvSpPr>
          <p:nvPr/>
        </p:nvSpPr>
        <p:spPr>
          <a:xfrm>
            <a:off x="3746500" y="2984500"/>
            <a:ext cx="3937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309542D8-D7EF-4BB1-99D6-27B150A3EE03}"/>
              </a:ext>
            </a:extLst>
          </p:cNvPr>
          <p:cNvSpPr>
            <a:spLocks noGrp="1"/>
          </p:cNvSpPr>
          <p:nvPr/>
        </p:nvSpPr>
        <p:spPr>
          <a:xfrm>
            <a:off x="5473700" y="2984500"/>
            <a:ext cx="3937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D26072FE-F67B-4D54-B9A3-2155F42D9BA0}"/>
              </a:ext>
            </a:extLst>
          </p:cNvPr>
          <p:cNvSpPr>
            <a:spLocks noGrp="1"/>
          </p:cNvSpPr>
          <p:nvPr/>
        </p:nvSpPr>
        <p:spPr>
          <a:xfrm>
            <a:off x="7200900" y="2984500"/>
            <a:ext cx="3937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8A4C4870-7BEE-456B-B6C3-7EE596D6B9A9}"/>
              </a:ext>
            </a:extLst>
          </p:cNvPr>
          <p:cNvSpPr>
            <a:spLocks noGrp="1"/>
          </p:cNvSpPr>
          <p:nvPr/>
        </p:nvSpPr>
        <p:spPr>
          <a:xfrm>
            <a:off x="8928100" y="2984500"/>
            <a:ext cx="3937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AD034B7-14E9-4E6C-A04F-8668FF9AE135}"/>
              </a:ext>
            </a:extLst>
          </p:cNvPr>
          <p:cNvSpPr>
            <a:spLocks noGrp="1"/>
          </p:cNvSpPr>
          <p:nvPr/>
        </p:nvSpPr>
        <p:spPr>
          <a:xfrm>
            <a:off x="685800" y="2349500"/>
            <a:ext cx="1397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5A2F82-91CE-4F50-A308-784D60F69590}"/>
              </a:ext>
            </a:extLst>
          </p:cNvPr>
          <p:cNvSpPr>
            <a:spLocks noGrp="1"/>
          </p:cNvSpPr>
          <p:nvPr/>
        </p:nvSpPr>
        <p:spPr>
          <a:xfrm>
            <a:off x="787400" y="2527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940359-79CB-4AF6-9682-37908D6FC692}"/>
              </a:ext>
            </a:extLst>
          </p:cNvPr>
          <p:cNvSpPr>
            <a:spLocks noGrp="1"/>
          </p:cNvSpPr>
          <p:nvPr/>
        </p:nvSpPr>
        <p:spPr>
          <a:xfrm>
            <a:off x="787400" y="3081467"/>
            <a:ext cx="11938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procfs / PSI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96E4BA2-56A7-47E8-9882-6C21DB27ABE0}"/>
              </a:ext>
            </a:extLst>
          </p:cNvPr>
          <p:cNvSpPr>
            <a:spLocks noGrp="1"/>
          </p:cNvSpPr>
          <p:nvPr/>
        </p:nvSpPr>
        <p:spPr>
          <a:xfrm>
            <a:off x="2413000" y="2349500"/>
            <a:ext cx="1397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9B9F45-A273-4DF5-965B-97E526E2F1EB}"/>
              </a:ext>
            </a:extLst>
          </p:cNvPr>
          <p:cNvSpPr>
            <a:spLocks noGrp="1"/>
          </p:cNvSpPr>
          <p:nvPr/>
        </p:nvSpPr>
        <p:spPr>
          <a:xfrm>
            <a:off x="2514600" y="2527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97BA2C-189B-447D-BD78-4F6217CAFA9B}"/>
              </a:ext>
            </a:extLst>
          </p:cNvPr>
          <p:cNvSpPr>
            <a:spLocks noGrp="1"/>
          </p:cNvSpPr>
          <p:nvPr/>
        </p:nvSpPr>
        <p:spPr>
          <a:xfrm>
            <a:off x="2514600" y="3081466"/>
            <a:ext cx="11938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规则优先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FCCD61-E395-40EA-BC48-54BF429C489F}"/>
              </a:ext>
            </a:extLst>
          </p:cNvPr>
          <p:cNvSpPr>
            <a:spLocks noGrp="1"/>
          </p:cNvSpPr>
          <p:nvPr/>
        </p:nvSpPr>
        <p:spPr>
          <a:xfrm>
            <a:off x="4140200" y="2349500"/>
            <a:ext cx="1397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A2AFC0-C668-422B-A92B-B19CE1A8CB38}"/>
              </a:ext>
            </a:extLst>
          </p:cNvPr>
          <p:cNvSpPr>
            <a:spLocks noGrp="1"/>
          </p:cNvSpPr>
          <p:nvPr/>
        </p:nvSpPr>
        <p:spPr>
          <a:xfrm>
            <a:off x="4241800" y="2527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路由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C1FAD7-4413-4589-A183-C0297550CC8A}"/>
              </a:ext>
            </a:extLst>
          </p:cNvPr>
          <p:cNvSpPr>
            <a:spLocks noGrp="1"/>
          </p:cNvSpPr>
          <p:nvPr/>
        </p:nvSpPr>
        <p:spPr>
          <a:xfrm>
            <a:off x="4241800" y="3081466"/>
            <a:ext cx="1193800" cy="36576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DeepSeek + 专家路由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2764DE9-3A4F-4AC2-8BC5-75DD5563302F}"/>
              </a:ext>
            </a:extLst>
          </p:cNvPr>
          <p:cNvSpPr>
            <a:spLocks noGrp="1"/>
          </p:cNvSpPr>
          <p:nvPr/>
        </p:nvSpPr>
        <p:spPr>
          <a:xfrm>
            <a:off x="5867400" y="2349500"/>
            <a:ext cx="1397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CA0AEF-AA31-4D48-86F9-418A4462DD3E}"/>
              </a:ext>
            </a:extLst>
          </p:cNvPr>
          <p:cNvSpPr>
            <a:spLocks noGrp="1"/>
          </p:cNvSpPr>
          <p:nvPr/>
        </p:nvSpPr>
        <p:spPr>
          <a:xfrm>
            <a:off x="5969000" y="2527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FE56F7-0097-4887-91A4-E014BA26816D}"/>
              </a:ext>
            </a:extLst>
          </p:cNvPr>
          <p:cNvSpPr>
            <a:spLocks noGrp="1"/>
          </p:cNvSpPr>
          <p:nvPr/>
        </p:nvSpPr>
        <p:spPr>
          <a:xfrm>
            <a:off x="5969000" y="3081467"/>
            <a:ext cx="11938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scx + cgroup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2FF0B81-A27A-4888-8C24-66681FD6A14C}"/>
              </a:ext>
            </a:extLst>
          </p:cNvPr>
          <p:cNvSpPr>
            <a:spLocks noGrp="1"/>
          </p:cNvSpPr>
          <p:nvPr/>
        </p:nvSpPr>
        <p:spPr>
          <a:xfrm>
            <a:off x="7594600" y="2349500"/>
            <a:ext cx="1397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5B02E3-D2B8-4B09-9326-5A90312A152A}"/>
              </a:ext>
            </a:extLst>
          </p:cNvPr>
          <p:cNvSpPr>
            <a:spLocks noGrp="1"/>
          </p:cNvSpPr>
          <p:nvPr/>
        </p:nvSpPr>
        <p:spPr>
          <a:xfrm>
            <a:off x="7696200" y="2527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4EABEF-5AD6-4EE9-95F3-3CE6B97FB70A}"/>
              </a:ext>
            </a:extLst>
          </p:cNvPr>
          <p:cNvSpPr>
            <a:spLocks noGrp="1"/>
          </p:cNvSpPr>
          <p:nvPr/>
        </p:nvSpPr>
        <p:spPr>
          <a:xfrm>
            <a:off x="7696200" y="3081466"/>
            <a:ext cx="11938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真实 SLO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45E1D0-0F6B-4EAC-80F7-CCE01BAB5ECE}"/>
              </a:ext>
            </a:extLst>
          </p:cNvPr>
          <p:cNvSpPr>
            <a:spLocks noGrp="1"/>
          </p:cNvSpPr>
          <p:nvPr/>
        </p:nvSpPr>
        <p:spPr>
          <a:xfrm>
            <a:off x="9321800" y="2349500"/>
            <a:ext cx="1397000" cy="1270000"/>
          </a:xfrm>
          <a:prstGeom prst="round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B014FB-B915-4662-83FC-ECEB06FF90D8}"/>
              </a:ext>
            </a:extLst>
          </p:cNvPr>
          <p:cNvSpPr>
            <a:spLocks noGrp="1"/>
          </p:cNvSpPr>
          <p:nvPr/>
        </p:nvSpPr>
        <p:spPr>
          <a:xfrm>
            <a:off x="9423400" y="25273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接受 / 回滚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AC7225C-3869-4B2A-B869-2ADEFFB49B06}"/>
              </a:ext>
            </a:extLst>
          </p:cNvPr>
          <p:cNvSpPr>
            <a:spLocks noGrp="1"/>
          </p:cNvSpPr>
          <p:nvPr/>
        </p:nvSpPr>
        <p:spPr>
          <a:xfrm>
            <a:off x="9423400" y="3081466"/>
            <a:ext cx="11938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清理状态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0544738-AC5C-43BB-A079-D161BF31478B}"/>
              </a:ext>
            </a:extLst>
          </p:cNvPr>
          <p:cNvSpPr>
            <a:spLocks noGrp="1"/>
          </p:cNvSpPr>
          <p:nvPr/>
        </p:nvSpPr>
        <p:spPr>
          <a:xfrm>
            <a:off x="1066800" y="4216400"/>
            <a:ext cx="10058400" cy="13335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E1E9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9AF9F18-7D5E-499B-B4EE-6129191880A5}"/>
              </a:ext>
            </a:extLst>
          </p:cNvPr>
          <p:cNvSpPr>
            <a:spLocks noGrp="1"/>
          </p:cNvSpPr>
          <p:nvPr/>
        </p:nvSpPr>
        <p:spPr>
          <a:xfrm>
            <a:off x="1333500" y="43942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安全边界贯穿每个阶段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6BE992-B6E3-4B08-A089-7C57ED885240}"/>
              </a:ext>
            </a:extLst>
          </p:cNvPr>
          <p:cNvSpPr>
            <a:spLocks noGrp="1"/>
          </p:cNvSpPr>
          <p:nvPr/>
        </p:nvSpPr>
        <p:spPr>
          <a:xfrm>
            <a:off x="1333500" y="4861783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结构化 Action  ·  命令白名单  ·  精确进程匹配  ·  默认 dry-run  ·  Canary 门槛  ·  原子回滚</a:t>
            </a:r>
          </a:p>
        </p:txBody>
      </p:sp>
    </p:spTree>
    <p:extLst>
      <p:ext uri="{BB962C8B-B14F-4D97-AF65-F5344CB8AC3E}">
        <p14:creationId xmlns:p14="http://schemas.microsoft.com/office/powerpoint/2010/main" val="129822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C9C227A-70A0-40E5-8C2E-AEF7F2108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1.3 优势：自适应决策与安全执行解耦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F4BFBF-9098-47F0-9B7C-911E6D804EAF}"/>
              </a:ext>
            </a:extLst>
          </p:cNvPr>
          <p:cNvSpPr>
            <a:spLocks noGrp="1"/>
          </p:cNvSpPr>
          <p:nvPr/>
        </p:nvSpPr>
        <p:spPr>
          <a:xfrm>
            <a:off x="660400" y="1714500"/>
            <a:ext cx="2174240" cy="711200"/>
          </a:xfrm>
          <a:prstGeom prst="rect">
            <a:avLst/>
          </a:prstGeom>
          <a:solidFill>
            <a:srgbClr val="2C54E8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D7D773-6E28-49C8-B9D1-2AE1D4A019CF}"/>
              </a:ext>
            </a:extLst>
          </p:cNvPr>
          <p:cNvSpPr>
            <a:spLocks noGrp="1"/>
          </p:cNvSpPr>
          <p:nvPr/>
        </p:nvSpPr>
        <p:spPr>
          <a:xfrm>
            <a:off x="723900" y="1846877"/>
            <a:ext cx="204724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C53238-32F1-4981-8AA3-5C1032B2C7A7}"/>
              </a:ext>
            </a:extLst>
          </p:cNvPr>
          <p:cNvSpPr>
            <a:spLocks noGrp="1"/>
          </p:cNvSpPr>
          <p:nvPr/>
        </p:nvSpPr>
        <p:spPr>
          <a:xfrm>
            <a:off x="2834640" y="1714500"/>
            <a:ext cx="2174240" cy="711200"/>
          </a:xfrm>
          <a:prstGeom prst="rect">
            <a:avLst/>
          </a:prstGeom>
          <a:solidFill>
            <a:srgbClr val="2C54E8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6A460C0-1BC9-4BF9-A141-2392AD2BF08B}"/>
              </a:ext>
            </a:extLst>
          </p:cNvPr>
          <p:cNvSpPr>
            <a:spLocks noGrp="1"/>
          </p:cNvSpPr>
          <p:nvPr/>
        </p:nvSpPr>
        <p:spPr>
          <a:xfrm>
            <a:off x="2898140" y="1846877"/>
            <a:ext cx="204724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workload 感知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7F0D6E-6340-424A-AE5B-F5FE6D1FFF00}"/>
              </a:ext>
            </a:extLst>
          </p:cNvPr>
          <p:cNvSpPr>
            <a:spLocks noGrp="1"/>
          </p:cNvSpPr>
          <p:nvPr/>
        </p:nvSpPr>
        <p:spPr>
          <a:xfrm>
            <a:off x="5008880" y="1714500"/>
            <a:ext cx="2174240" cy="711200"/>
          </a:xfrm>
          <a:prstGeom prst="rect">
            <a:avLst/>
          </a:prstGeom>
          <a:solidFill>
            <a:srgbClr val="2C54E8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F0C9515-2233-43B2-A970-1DB17055C0FC}"/>
              </a:ext>
            </a:extLst>
          </p:cNvPr>
          <p:cNvSpPr>
            <a:spLocks noGrp="1"/>
          </p:cNvSpPr>
          <p:nvPr/>
        </p:nvSpPr>
        <p:spPr>
          <a:xfrm>
            <a:off x="5072380" y="1846877"/>
            <a:ext cx="204724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执行方式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E2D67B-02ED-422A-A3E6-D3768C26BC54}"/>
              </a:ext>
            </a:extLst>
          </p:cNvPr>
          <p:cNvSpPr>
            <a:spLocks noGrp="1"/>
          </p:cNvSpPr>
          <p:nvPr/>
        </p:nvSpPr>
        <p:spPr>
          <a:xfrm>
            <a:off x="7183120" y="1714500"/>
            <a:ext cx="2174240" cy="711200"/>
          </a:xfrm>
          <a:prstGeom prst="rect">
            <a:avLst/>
          </a:prstGeom>
          <a:solidFill>
            <a:srgbClr val="2C54E8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243900-F3C8-4D10-A562-6037B783E027}"/>
              </a:ext>
            </a:extLst>
          </p:cNvPr>
          <p:cNvSpPr>
            <a:spLocks noGrp="1"/>
          </p:cNvSpPr>
          <p:nvPr/>
        </p:nvSpPr>
        <p:spPr>
          <a:xfrm>
            <a:off x="7246620" y="1846877"/>
            <a:ext cx="204724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5E0046-6412-43BC-B0B5-08BA13AF370E}"/>
              </a:ext>
            </a:extLst>
          </p:cNvPr>
          <p:cNvSpPr>
            <a:spLocks noGrp="1"/>
          </p:cNvSpPr>
          <p:nvPr/>
        </p:nvSpPr>
        <p:spPr>
          <a:xfrm>
            <a:off x="9357360" y="1714500"/>
            <a:ext cx="2174240" cy="711200"/>
          </a:xfrm>
          <a:prstGeom prst="rect">
            <a:avLst/>
          </a:prstGeom>
          <a:solidFill>
            <a:srgbClr val="2C54E8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5B6DAD-13B8-4473-AEA7-F90737AD6A95}"/>
              </a:ext>
            </a:extLst>
          </p:cNvPr>
          <p:cNvSpPr>
            <a:spLocks noGrp="1"/>
          </p:cNvSpPr>
          <p:nvPr/>
        </p:nvSpPr>
        <p:spPr>
          <a:xfrm>
            <a:off x="9420860" y="1846877"/>
            <a:ext cx="204724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异常恢复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D707A6-9DC4-4FB0-A044-20B286B141A7}"/>
              </a:ext>
            </a:extLst>
          </p:cNvPr>
          <p:cNvSpPr>
            <a:spLocks noGrp="1"/>
          </p:cNvSpPr>
          <p:nvPr/>
        </p:nvSpPr>
        <p:spPr>
          <a:xfrm>
            <a:off x="660400" y="24257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3BA7EE-46AB-47B1-AC03-1EAD1BB0877B}"/>
              </a:ext>
            </a:extLst>
          </p:cNvPr>
          <p:cNvSpPr>
            <a:spLocks noGrp="1"/>
          </p:cNvSpPr>
          <p:nvPr/>
        </p:nvSpPr>
        <p:spPr>
          <a:xfrm>
            <a:off x="723900" y="25607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静态 cgroup 脚本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B17015-C777-4F02-8464-8CE42B95B934}"/>
              </a:ext>
            </a:extLst>
          </p:cNvPr>
          <p:cNvSpPr>
            <a:spLocks noGrp="1"/>
          </p:cNvSpPr>
          <p:nvPr/>
        </p:nvSpPr>
        <p:spPr>
          <a:xfrm>
            <a:off x="2834640" y="24257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ECF3376-7CE3-450B-B4F2-BCE362F3DBC2}"/>
              </a:ext>
            </a:extLst>
          </p:cNvPr>
          <p:cNvSpPr>
            <a:spLocks noGrp="1"/>
          </p:cNvSpPr>
          <p:nvPr/>
        </p:nvSpPr>
        <p:spPr>
          <a:xfrm>
            <a:off x="2898140" y="25607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人工指定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CE98DE-1BD0-4A19-9704-780F5C6E4405}"/>
              </a:ext>
            </a:extLst>
          </p:cNvPr>
          <p:cNvSpPr>
            <a:spLocks noGrp="1"/>
          </p:cNvSpPr>
          <p:nvPr/>
        </p:nvSpPr>
        <p:spPr>
          <a:xfrm>
            <a:off x="5008880" y="24257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4B633F-1ED4-425F-9865-6633491F1B18}"/>
              </a:ext>
            </a:extLst>
          </p:cNvPr>
          <p:cNvSpPr>
            <a:spLocks noGrp="1"/>
          </p:cNvSpPr>
          <p:nvPr/>
        </p:nvSpPr>
        <p:spPr>
          <a:xfrm>
            <a:off x="5072380" y="25607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cgroup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ABC311-4B48-4BB9-8D2D-E0D623FE1A61}"/>
              </a:ext>
            </a:extLst>
          </p:cNvPr>
          <p:cNvSpPr>
            <a:spLocks noGrp="1"/>
          </p:cNvSpPr>
          <p:nvPr/>
        </p:nvSpPr>
        <p:spPr>
          <a:xfrm>
            <a:off x="7183120" y="24257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DDE1D9-9DAB-4F90-B443-C118341E1C7D}"/>
              </a:ext>
            </a:extLst>
          </p:cNvPr>
          <p:cNvSpPr>
            <a:spLocks noGrp="1"/>
          </p:cNvSpPr>
          <p:nvPr/>
        </p:nvSpPr>
        <p:spPr>
          <a:xfrm>
            <a:off x="7246620" y="25607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通常无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3DD472-EB87-48B2-9F62-C1ECE7E7D78A}"/>
              </a:ext>
            </a:extLst>
          </p:cNvPr>
          <p:cNvSpPr>
            <a:spLocks noGrp="1"/>
          </p:cNvSpPr>
          <p:nvPr/>
        </p:nvSpPr>
        <p:spPr>
          <a:xfrm>
            <a:off x="9357360" y="24257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F32D4A-E140-44D8-886F-F6AF9EB03B09}"/>
              </a:ext>
            </a:extLst>
          </p:cNvPr>
          <p:cNvSpPr>
            <a:spLocks noGrp="1"/>
          </p:cNvSpPr>
          <p:nvPr/>
        </p:nvSpPr>
        <p:spPr>
          <a:xfrm>
            <a:off x="9420860" y="25607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人工恢复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25B85E-5102-4D17-B175-8294B88078B8}"/>
              </a:ext>
            </a:extLst>
          </p:cNvPr>
          <p:cNvSpPr>
            <a:spLocks noGrp="1"/>
          </p:cNvSpPr>
          <p:nvPr/>
        </p:nvSpPr>
        <p:spPr>
          <a:xfrm>
            <a:off x="660400" y="3136900"/>
            <a:ext cx="2174240" cy="711200"/>
          </a:xfrm>
          <a:prstGeom prst="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910EBE7-36D4-4893-A48E-ED4C9527C1CF}"/>
              </a:ext>
            </a:extLst>
          </p:cNvPr>
          <p:cNvSpPr>
            <a:spLocks noGrp="1"/>
          </p:cNvSpPr>
          <p:nvPr/>
        </p:nvSpPr>
        <p:spPr>
          <a:xfrm>
            <a:off x="723900" y="32719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固定 scx 调度器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358E6E-8F73-4B43-BFE2-D2A77B5BBBE4}"/>
              </a:ext>
            </a:extLst>
          </p:cNvPr>
          <p:cNvSpPr>
            <a:spLocks noGrp="1"/>
          </p:cNvSpPr>
          <p:nvPr/>
        </p:nvSpPr>
        <p:spPr>
          <a:xfrm>
            <a:off x="2834640" y="3136900"/>
            <a:ext cx="2174240" cy="711200"/>
          </a:xfrm>
          <a:prstGeom prst="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157457-0AE2-43FD-BCF6-9121320D37CC}"/>
              </a:ext>
            </a:extLst>
          </p:cNvPr>
          <p:cNvSpPr>
            <a:spLocks noGrp="1"/>
          </p:cNvSpPr>
          <p:nvPr/>
        </p:nvSpPr>
        <p:spPr>
          <a:xfrm>
            <a:off x="2898140" y="32719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有限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4C36A4-A102-49D6-B31C-F58A56366F4D}"/>
              </a:ext>
            </a:extLst>
          </p:cNvPr>
          <p:cNvSpPr>
            <a:spLocks noGrp="1"/>
          </p:cNvSpPr>
          <p:nvPr/>
        </p:nvSpPr>
        <p:spPr>
          <a:xfrm>
            <a:off x="5008880" y="3136900"/>
            <a:ext cx="2174240" cy="711200"/>
          </a:xfrm>
          <a:prstGeom prst="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EFD079F-F9FA-44B3-9151-0FA18BBF1118}"/>
              </a:ext>
            </a:extLst>
          </p:cNvPr>
          <p:cNvSpPr>
            <a:spLocks noGrp="1"/>
          </p:cNvSpPr>
          <p:nvPr/>
        </p:nvSpPr>
        <p:spPr>
          <a:xfrm>
            <a:off x="5072380" y="32719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sched_ext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91AC23F-EB23-4E40-AF5D-DDB2AE9D5104}"/>
              </a:ext>
            </a:extLst>
          </p:cNvPr>
          <p:cNvSpPr>
            <a:spLocks noGrp="1"/>
          </p:cNvSpPr>
          <p:nvPr/>
        </p:nvSpPr>
        <p:spPr>
          <a:xfrm>
            <a:off x="7183120" y="3136900"/>
            <a:ext cx="2174240" cy="711200"/>
          </a:xfrm>
          <a:prstGeom prst="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E6DC221-E792-4AB7-8E2C-F6456D3BFE38}"/>
              </a:ext>
            </a:extLst>
          </p:cNvPr>
          <p:cNvSpPr>
            <a:spLocks noGrp="1"/>
          </p:cNvSpPr>
          <p:nvPr/>
        </p:nvSpPr>
        <p:spPr>
          <a:xfrm>
            <a:off x="7246620" y="32719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通常离线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13046BB-581A-4F23-BBE3-F53E93823A2C}"/>
              </a:ext>
            </a:extLst>
          </p:cNvPr>
          <p:cNvSpPr>
            <a:spLocks noGrp="1"/>
          </p:cNvSpPr>
          <p:nvPr/>
        </p:nvSpPr>
        <p:spPr>
          <a:xfrm>
            <a:off x="9357360" y="3136900"/>
            <a:ext cx="2174240" cy="711200"/>
          </a:xfrm>
          <a:prstGeom prst="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22E8F6F-BA7E-42C8-AB40-1976CA25821E}"/>
              </a:ext>
            </a:extLst>
          </p:cNvPr>
          <p:cNvSpPr>
            <a:spLocks noGrp="1"/>
          </p:cNvSpPr>
          <p:nvPr/>
        </p:nvSpPr>
        <p:spPr>
          <a:xfrm>
            <a:off x="9420860" y="32719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内核退出保护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4A3B90-2F98-4E4F-ADCA-0DF1E8B11F31}"/>
              </a:ext>
            </a:extLst>
          </p:cNvPr>
          <p:cNvSpPr>
            <a:spLocks noGrp="1"/>
          </p:cNvSpPr>
          <p:nvPr/>
        </p:nvSpPr>
        <p:spPr>
          <a:xfrm>
            <a:off x="660400" y="38481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F784FA6-7702-4CE7-A5C0-B456846D2272}"/>
              </a:ext>
            </a:extLst>
          </p:cNvPr>
          <p:cNvSpPr>
            <a:spLocks noGrp="1"/>
          </p:cNvSpPr>
          <p:nvPr/>
        </p:nvSpPr>
        <p:spPr>
          <a:xfrm>
            <a:off x="723900" y="39831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通用 LLM Agent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7AB83A5-F855-42D1-8E09-75CCC414D590}"/>
              </a:ext>
            </a:extLst>
          </p:cNvPr>
          <p:cNvSpPr>
            <a:spLocks noGrp="1"/>
          </p:cNvSpPr>
          <p:nvPr/>
        </p:nvSpPr>
        <p:spPr>
          <a:xfrm>
            <a:off x="2834640" y="38481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ECA5DA6-6074-4517-87A4-E456E933ED86}"/>
              </a:ext>
            </a:extLst>
          </p:cNvPr>
          <p:cNvSpPr>
            <a:spLocks noGrp="1"/>
          </p:cNvSpPr>
          <p:nvPr/>
        </p:nvSpPr>
        <p:spPr>
          <a:xfrm>
            <a:off x="2898140" y="39831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语义 / 模型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DB39727-5F87-4E69-BD41-8106CAEB317A}"/>
              </a:ext>
            </a:extLst>
          </p:cNvPr>
          <p:cNvSpPr>
            <a:spLocks noGrp="1"/>
          </p:cNvSpPr>
          <p:nvPr/>
        </p:nvSpPr>
        <p:spPr>
          <a:xfrm>
            <a:off x="5008880" y="38481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83408E-3EE0-4221-B4F4-C4EE41ED93D8}"/>
              </a:ext>
            </a:extLst>
          </p:cNvPr>
          <p:cNvSpPr>
            <a:spLocks noGrp="1"/>
          </p:cNvSpPr>
          <p:nvPr/>
        </p:nvSpPr>
        <p:spPr>
          <a:xfrm>
            <a:off x="5072380" y="39831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依框架而定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0E0B1E-868D-4F7F-AD6A-30DE9825330D}"/>
              </a:ext>
            </a:extLst>
          </p:cNvPr>
          <p:cNvSpPr>
            <a:spLocks noGrp="1"/>
          </p:cNvSpPr>
          <p:nvPr/>
        </p:nvSpPr>
        <p:spPr>
          <a:xfrm>
            <a:off x="7183120" y="38481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595257A-C65B-430B-A7D2-1612AD3D30F2}"/>
              </a:ext>
            </a:extLst>
          </p:cNvPr>
          <p:cNvSpPr>
            <a:spLocks noGrp="1"/>
          </p:cNvSpPr>
          <p:nvPr/>
        </p:nvSpPr>
        <p:spPr>
          <a:xfrm>
            <a:off x="7246620" y="39831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依框架而定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9F2BBC9-84F7-456F-B029-1759C6B6FE40}"/>
              </a:ext>
            </a:extLst>
          </p:cNvPr>
          <p:cNvSpPr>
            <a:spLocks noGrp="1"/>
          </p:cNvSpPr>
          <p:nvPr/>
        </p:nvSpPr>
        <p:spPr>
          <a:xfrm>
            <a:off x="9357360" y="3848100"/>
            <a:ext cx="2174240" cy="71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E767766-11AF-4CF5-A332-24B865C5C6C1}"/>
              </a:ext>
            </a:extLst>
          </p:cNvPr>
          <p:cNvSpPr>
            <a:spLocks noGrp="1"/>
          </p:cNvSpPr>
          <p:nvPr/>
        </p:nvSpPr>
        <p:spPr>
          <a:xfrm>
            <a:off x="9420860" y="39831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依框架而定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54C7818-A0C0-4D86-ACC2-A08FEAB2E63E}"/>
              </a:ext>
            </a:extLst>
          </p:cNvPr>
          <p:cNvSpPr>
            <a:spLocks noGrp="1"/>
          </p:cNvSpPr>
          <p:nvPr/>
        </p:nvSpPr>
        <p:spPr>
          <a:xfrm>
            <a:off x="660400" y="4559300"/>
            <a:ext cx="2174240" cy="711200"/>
          </a:xfrm>
          <a:prstGeom prst="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B6366C0-CB56-49CB-B4C0-AA3F5B2AE171}"/>
              </a:ext>
            </a:extLst>
          </p:cNvPr>
          <p:cNvSpPr>
            <a:spLocks noGrp="1"/>
          </p:cNvSpPr>
          <p:nvPr/>
        </p:nvSpPr>
        <p:spPr>
          <a:xfrm>
            <a:off x="723900" y="46943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SchedX-Agent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0AF180D-8236-4BAD-8E05-534E9CF4F82E}"/>
              </a:ext>
            </a:extLst>
          </p:cNvPr>
          <p:cNvSpPr>
            <a:spLocks noGrp="1"/>
          </p:cNvSpPr>
          <p:nvPr/>
        </p:nvSpPr>
        <p:spPr>
          <a:xfrm>
            <a:off x="2834640" y="4559300"/>
            <a:ext cx="2174240" cy="711200"/>
          </a:xfrm>
          <a:prstGeom prst="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B186DF5-FCA0-46CF-BDA7-5B291B52478F}"/>
              </a:ext>
            </a:extLst>
          </p:cNvPr>
          <p:cNvSpPr>
            <a:spLocks noGrp="1"/>
          </p:cNvSpPr>
          <p:nvPr/>
        </p:nvSpPr>
        <p:spPr>
          <a:xfrm>
            <a:off x="2898140" y="46943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procfs / PSI / SLO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325EC0C-D722-439A-B0F8-F1A9E6DDE731}"/>
              </a:ext>
            </a:extLst>
          </p:cNvPr>
          <p:cNvSpPr>
            <a:spLocks noGrp="1"/>
          </p:cNvSpPr>
          <p:nvPr/>
        </p:nvSpPr>
        <p:spPr>
          <a:xfrm>
            <a:off x="5008880" y="4559300"/>
            <a:ext cx="2174240" cy="711200"/>
          </a:xfrm>
          <a:prstGeom prst="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8A9B0C0-9F36-497E-86BC-15C070FD2003}"/>
              </a:ext>
            </a:extLst>
          </p:cNvPr>
          <p:cNvSpPr>
            <a:spLocks noGrp="1"/>
          </p:cNvSpPr>
          <p:nvPr/>
        </p:nvSpPr>
        <p:spPr>
          <a:xfrm>
            <a:off x="5072380" y="4694367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native scx + cgroup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D3FC916-1E85-4A27-A257-B8402E6D66EF}"/>
              </a:ext>
            </a:extLst>
          </p:cNvPr>
          <p:cNvSpPr>
            <a:spLocks noGrp="1"/>
          </p:cNvSpPr>
          <p:nvPr/>
        </p:nvSpPr>
        <p:spPr>
          <a:xfrm>
            <a:off x="7183120" y="4559300"/>
            <a:ext cx="2174240" cy="711200"/>
          </a:xfrm>
          <a:prstGeom prst="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AF8F891-51C4-42AB-AA23-EE4636D4ED7D}"/>
              </a:ext>
            </a:extLst>
          </p:cNvPr>
          <p:cNvSpPr>
            <a:spLocks noGrp="1"/>
          </p:cNvSpPr>
          <p:nvPr/>
        </p:nvSpPr>
        <p:spPr>
          <a:xfrm>
            <a:off x="7246620" y="4694367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真实 Canary + 公平性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22453AA-84CA-443F-90C7-07A22192AFE0}"/>
              </a:ext>
            </a:extLst>
          </p:cNvPr>
          <p:cNvSpPr>
            <a:spLocks noGrp="1"/>
          </p:cNvSpPr>
          <p:nvPr/>
        </p:nvSpPr>
        <p:spPr>
          <a:xfrm>
            <a:off x="9357360" y="4559300"/>
            <a:ext cx="2174240" cy="711200"/>
          </a:xfrm>
          <a:prstGeom prst="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D9935B6-1644-4BC5-8A8E-DF51D88E7ADA}"/>
              </a:ext>
            </a:extLst>
          </p:cNvPr>
          <p:cNvSpPr>
            <a:spLocks noGrp="1"/>
          </p:cNvSpPr>
          <p:nvPr/>
        </p:nvSpPr>
        <p:spPr>
          <a:xfrm>
            <a:off x="9420860" y="4694366"/>
            <a:ext cx="204724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自动原子回滚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8AF4D4-C25C-448A-B6C8-7EFCA24B060D}"/>
              </a:ext>
            </a:extLst>
          </p:cNvPr>
          <p:cNvSpPr>
            <a:spLocks noGrp="1"/>
          </p:cNvSpPr>
          <p:nvPr/>
        </p:nvSpPr>
        <p:spPr>
          <a:xfrm>
            <a:off x="660400" y="5532194"/>
            <a:ext cx="108712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核心差异：策略只有通过真实 SLO 与后台公平性验证后才会被保留。</a:t>
            </a:r>
          </a:p>
        </p:txBody>
      </p:sp>
    </p:spTree>
    <p:extLst>
      <p:ext uri="{BB962C8B-B14F-4D97-AF65-F5344CB8AC3E}">
        <p14:creationId xmlns:p14="http://schemas.microsoft.com/office/powerpoint/2010/main" val="156203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3FF8DAB-D4F7-4001-84AA-2C4A6BA6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1.4 原创实现与开源边界均可审计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A0AA8D1-C6BA-4605-8333-B9AF1EDC600F}"/>
              </a:ext>
            </a:extLst>
          </p:cNvPr>
          <p:cNvSpPr>
            <a:spLocks noGrp="1"/>
          </p:cNvSpPr>
          <p:nvPr/>
        </p:nvSpPr>
        <p:spPr>
          <a:xfrm>
            <a:off x="762000" y="1803400"/>
            <a:ext cx="31115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3BE0AC-DB55-438C-A6FA-F331732427F8}"/>
              </a:ext>
            </a:extLst>
          </p:cNvPr>
          <p:cNvSpPr>
            <a:spLocks noGrp="1"/>
          </p:cNvSpPr>
          <p:nvPr/>
        </p:nvSpPr>
        <p:spPr>
          <a:xfrm>
            <a:off x="939800" y="1828056"/>
            <a:ext cx="27559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12,721 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CA7612-FAFE-467C-8B96-43BD2D5A3A08}"/>
              </a:ext>
            </a:extLst>
          </p:cNvPr>
          <p:cNvSpPr>
            <a:spLocks noGrp="1"/>
          </p:cNvSpPr>
          <p:nvPr/>
        </p:nvSpPr>
        <p:spPr>
          <a:xfrm>
            <a:off x="939800" y="2464172"/>
            <a:ext cx="27559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产品代码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6CE38C6-CDDE-4368-B1D9-47851579A8F1}"/>
              </a:ext>
            </a:extLst>
          </p:cNvPr>
          <p:cNvSpPr>
            <a:spLocks noGrp="1"/>
          </p:cNvSpPr>
          <p:nvPr/>
        </p:nvSpPr>
        <p:spPr>
          <a:xfrm>
            <a:off x="4533900" y="1803400"/>
            <a:ext cx="31115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4CDA71-317E-4884-BAF9-C92FFDEB9853}"/>
              </a:ext>
            </a:extLst>
          </p:cNvPr>
          <p:cNvSpPr>
            <a:spLocks noGrp="1"/>
          </p:cNvSpPr>
          <p:nvPr/>
        </p:nvSpPr>
        <p:spPr>
          <a:xfrm>
            <a:off x="4711700" y="1828056"/>
            <a:ext cx="27559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6E44EB"/>
                </a:solidFill>
                <a:latin typeface="微软雅黑"/>
                <a:ea typeface="微软雅黑"/>
                <a:cs typeface="微软雅黑"/>
              </a:rPr>
              <a:t>1,822 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08DD2B-FD3B-4933-9574-4D9BFA02AA38}"/>
              </a:ext>
            </a:extLst>
          </p:cNvPr>
          <p:cNvSpPr>
            <a:spLocks noGrp="1"/>
          </p:cNvSpPr>
          <p:nvPr/>
        </p:nvSpPr>
        <p:spPr>
          <a:xfrm>
            <a:off x="4711700" y="2464172"/>
            <a:ext cx="27559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自动化测试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6AB640A-2FB8-4618-AD5F-6BF8398A6435}"/>
              </a:ext>
            </a:extLst>
          </p:cNvPr>
          <p:cNvSpPr>
            <a:spLocks noGrp="1"/>
          </p:cNvSpPr>
          <p:nvPr/>
        </p:nvSpPr>
        <p:spPr>
          <a:xfrm>
            <a:off x="8305800" y="1803400"/>
            <a:ext cx="3111500" cy="152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2B5F52-E372-42F1-80EA-9DF775B038D5}"/>
              </a:ext>
            </a:extLst>
          </p:cNvPr>
          <p:cNvSpPr>
            <a:spLocks noGrp="1"/>
          </p:cNvSpPr>
          <p:nvPr/>
        </p:nvSpPr>
        <p:spPr>
          <a:xfrm>
            <a:off x="8483600" y="1828056"/>
            <a:ext cx="27559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15BDE5"/>
                </a:solidFill>
                <a:latin typeface="微软雅黑"/>
                <a:ea typeface="微软雅黑"/>
                <a:cs typeface="微软雅黑"/>
              </a:rPr>
              <a:t>14,543 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2493A9-76A8-49B4-8BC7-2950EB99032F}"/>
              </a:ext>
            </a:extLst>
          </p:cNvPr>
          <p:cNvSpPr>
            <a:spLocks noGrp="1"/>
          </p:cNvSpPr>
          <p:nvPr/>
        </p:nvSpPr>
        <p:spPr>
          <a:xfrm>
            <a:off x="8483600" y="2464172"/>
            <a:ext cx="27559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自研有效代码合计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45C43A-4C54-4E74-BF3C-85058EC34571}"/>
              </a:ext>
            </a:extLst>
          </p:cNvPr>
          <p:cNvSpPr>
            <a:spLocks noGrp="1"/>
          </p:cNvSpPr>
          <p:nvPr/>
        </p:nvSpPr>
        <p:spPr>
          <a:xfrm>
            <a:off x="762000" y="3746500"/>
            <a:ext cx="10655300" cy="18415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ED0F52-4EAA-4C1A-8EE3-D0324E054C5B}"/>
              </a:ext>
            </a:extLst>
          </p:cNvPr>
          <p:cNvSpPr>
            <a:spLocks noGrp="1"/>
          </p:cNvSpPr>
          <p:nvPr/>
        </p:nvSpPr>
        <p:spPr>
          <a:xfrm>
            <a:off x="1054100" y="39243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团队独立实现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8431E4-A913-4B21-9D03-81A93D8111DD}"/>
              </a:ext>
            </a:extLst>
          </p:cNvPr>
          <p:cNvSpPr>
            <a:spLocks noGrp="1"/>
          </p:cNvSpPr>
          <p:nvPr/>
        </p:nvSpPr>
        <p:spPr>
          <a:xfrm>
            <a:off x="1041400" y="4173751"/>
            <a:ext cx="4699000" cy="91749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Agent / Skills / 安全执行闭环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项目专用 scx_agent 与 daemon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Canary、回滚、实验与报告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D371A7C-889E-4C90-BF45-3EA1CCA17180}"/>
              </a:ext>
            </a:extLst>
          </p:cNvPr>
          <p:cNvSpPr>
            <a:spLocks noGrp="1"/>
          </p:cNvSpPr>
          <p:nvPr/>
        </p:nvSpPr>
        <p:spPr>
          <a:xfrm>
            <a:off x="6362700" y="39243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明确声明外部基础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4D7276-4317-4A49-A66A-A173EAD78341}"/>
              </a:ext>
            </a:extLst>
          </p:cNvPr>
          <p:cNvSpPr>
            <a:spLocks noGrp="1"/>
          </p:cNvSpPr>
          <p:nvPr/>
        </p:nvSpPr>
        <p:spPr>
          <a:xfrm>
            <a:off x="6350000" y="4173751"/>
            <a:ext cx="4572000" cy="91749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openEuler / Linux / sched_ext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libbpf、nginx、wrk、stress-ng</a:t>
            </a:r>
          </a:p>
          <a:p>
            <a:pPr>
              <a:lnSpc>
                <a:spcPct val="105000"/>
              </a:lnSpc>
              <a:spcAft>
                <a:spcPts val="800"/>
              </a:spcAft>
              <a:buNone/>
            </a:pPr>
            <a:r>
              <a:rPr sz="15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许可证与用途记录于 THIRD_PARTY_NOTICES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BD3B12-3785-46BE-8858-ABC755918AA3}"/>
              </a:ext>
            </a:extLst>
          </p:cNvPr>
          <p:cNvSpPr>
            <a:spLocks noGrp="1"/>
          </p:cNvSpPr>
          <p:nvPr/>
        </p:nvSpPr>
        <p:spPr>
          <a:xfrm>
            <a:off x="571500" y="624145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统计口径：项目随附 code_origin_stats；最终提交前将在干净 Git commit 上重跑。</a:t>
            </a:r>
          </a:p>
        </p:txBody>
      </p:sp>
    </p:spTree>
    <p:extLst>
      <p:ext uri="{BB962C8B-B14F-4D97-AF65-F5344CB8AC3E}">
        <p14:creationId xmlns:p14="http://schemas.microsoft.com/office/powerpoint/2010/main" val="145755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89EA774-60FC-4A89-B117-0610999181F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项目亮点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E1C1D-9EF2-48A7-B30A-79C360D867E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以真实 native sched_ext 为执行面，以安全门槛约束自适应策略</a:t>
            </a:r>
          </a:p>
        </p:txBody>
      </p:sp>
    </p:spTree>
    <p:extLst>
      <p:ext uri="{BB962C8B-B14F-4D97-AF65-F5344CB8AC3E}">
        <p14:creationId xmlns:p14="http://schemas.microsoft.com/office/powerpoint/2010/main" val="56118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F8289D0-4876-4153-BE4C-1805FD7C3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2.1 标准化 Skills 组成完整 Agent 闭环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C363F1-6847-4296-9C1A-2E7AECC4A47C}"/>
              </a:ext>
            </a:extLst>
          </p:cNvPr>
          <p:cNvSpPr>
            <a:spLocks noGrp="1"/>
          </p:cNvSpPr>
          <p:nvPr/>
        </p:nvSpPr>
        <p:spPr>
          <a:xfrm>
            <a:off x="736600" y="1803400"/>
            <a:ext cx="32766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F7FD4F7-CD68-4B9B-BA14-07BD69BE5D02}"/>
              </a:ext>
            </a:extLst>
          </p:cNvPr>
          <p:cNvSpPr>
            <a:spLocks noGrp="1"/>
          </p:cNvSpPr>
          <p:nvPr/>
        </p:nvSpPr>
        <p:spPr>
          <a:xfrm>
            <a:off x="939800" y="2019300"/>
            <a:ext cx="558800" cy="558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68060B-1C04-4669-80DC-1C126767BEC8}"/>
              </a:ext>
            </a:extLst>
          </p:cNvPr>
          <p:cNvSpPr>
            <a:spLocks noGrp="1"/>
          </p:cNvSpPr>
          <p:nvPr/>
        </p:nvSpPr>
        <p:spPr>
          <a:xfrm>
            <a:off x="939800" y="2032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FF5A6C-D64E-465E-B141-AB29610D5911}"/>
              </a:ext>
            </a:extLst>
          </p:cNvPr>
          <p:cNvSpPr>
            <a:spLocks noGrp="1"/>
          </p:cNvSpPr>
          <p:nvPr/>
        </p:nvSpPr>
        <p:spPr>
          <a:xfrm>
            <a:off x="1676400" y="2011606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Probe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1446E5-262F-4662-A93F-BEA1158978D9}"/>
              </a:ext>
            </a:extLst>
          </p:cNvPr>
          <p:cNvSpPr>
            <a:spLocks noGrp="1"/>
          </p:cNvSpPr>
          <p:nvPr/>
        </p:nvSpPr>
        <p:spPr>
          <a:xfrm>
            <a:off x="990600" y="2723178"/>
            <a:ext cx="2768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procfs / PSI / cgroup / SLO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F78FD1F-EBCE-47A2-95E3-A7922FD1CA5C}"/>
              </a:ext>
            </a:extLst>
          </p:cNvPr>
          <p:cNvSpPr>
            <a:spLocks noGrp="1"/>
          </p:cNvSpPr>
          <p:nvPr/>
        </p:nvSpPr>
        <p:spPr>
          <a:xfrm>
            <a:off x="4368800" y="1803400"/>
            <a:ext cx="32766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881747C-CBA6-4E16-ACBA-9915A243B3A2}"/>
              </a:ext>
            </a:extLst>
          </p:cNvPr>
          <p:cNvSpPr>
            <a:spLocks noGrp="1"/>
          </p:cNvSpPr>
          <p:nvPr/>
        </p:nvSpPr>
        <p:spPr>
          <a:xfrm>
            <a:off x="4572000" y="2019300"/>
            <a:ext cx="558800" cy="558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17F1E32-2F78-461C-8C79-D4D30663D66F}"/>
              </a:ext>
            </a:extLst>
          </p:cNvPr>
          <p:cNvSpPr>
            <a:spLocks noGrp="1"/>
          </p:cNvSpPr>
          <p:nvPr/>
        </p:nvSpPr>
        <p:spPr>
          <a:xfrm>
            <a:off x="4572000" y="2032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4F14E6-13EE-4DFB-8D90-3F899FE900FD}"/>
              </a:ext>
            </a:extLst>
          </p:cNvPr>
          <p:cNvSpPr>
            <a:spLocks noGrp="1"/>
          </p:cNvSpPr>
          <p:nvPr/>
        </p:nvSpPr>
        <p:spPr>
          <a:xfrm>
            <a:off x="5308600" y="2011606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Analyze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E71C94-0B46-42E1-8055-0804D5DDFDEA}"/>
              </a:ext>
            </a:extLst>
          </p:cNvPr>
          <p:cNvSpPr>
            <a:spLocks noGrp="1"/>
          </p:cNvSpPr>
          <p:nvPr/>
        </p:nvSpPr>
        <p:spPr>
          <a:xfrm>
            <a:off x="4622800" y="2723177"/>
            <a:ext cx="2768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规则分类 + 可审计原因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D6B82FC-683D-42EC-941F-CDBA0C8B2E10}"/>
              </a:ext>
            </a:extLst>
          </p:cNvPr>
          <p:cNvSpPr>
            <a:spLocks noGrp="1"/>
          </p:cNvSpPr>
          <p:nvPr/>
        </p:nvSpPr>
        <p:spPr>
          <a:xfrm>
            <a:off x="8001000" y="1803400"/>
            <a:ext cx="32766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9CECB58-6254-4F24-AA56-5CA2BA52DD00}"/>
              </a:ext>
            </a:extLst>
          </p:cNvPr>
          <p:cNvSpPr>
            <a:spLocks noGrp="1"/>
          </p:cNvSpPr>
          <p:nvPr/>
        </p:nvSpPr>
        <p:spPr>
          <a:xfrm>
            <a:off x="8204200" y="2019300"/>
            <a:ext cx="558800" cy="558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2A6DDC-0E19-4C9E-A186-3D893B4B589C}"/>
              </a:ext>
            </a:extLst>
          </p:cNvPr>
          <p:cNvSpPr>
            <a:spLocks noGrp="1"/>
          </p:cNvSpPr>
          <p:nvPr/>
        </p:nvSpPr>
        <p:spPr>
          <a:xfrm>
            <a:off x="8204200" y="2032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2839D0-5122-45BD-A7AC-5DF618BCCE19}"/>
              </a:ext>
            </a:extLst>
          </p:cNvPr>
          <p:cNvSpPr>
            <a:spLocks noGrp="1"/>
          </p:cNvSpPr>
          <p:nvPr/>
        </p:nvSpPr>
        <p:spPr>
          <a:xfrm>
            <a:off x="8940800" y="2011606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Policy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1162C0-0BB1-4497-A7C2-9403D082990E}"/>
              </a:ext>
            </a:extLst>
          </p:cNvPr>
          <p:cNvSpPr>
            <a:spLocks noGrp="1"/>
          </p:cNvSpPr>
          <p:nvPr/>
        </p:nvSpPr>
        <p:spPr>
          <a:xfrm>
            <a:off x="8255000" y="2723177"/>
            <a:ext cx="2768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DeepSeek 提案 + 学习型专家路由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276EB17-9DDB-4C11-9ACA-8333129DDB18}"/>
              </a:ext>
            </a:extLst>
          </p:cNvPr>
          <p:cNvSpPr>
            <a:spLocks noGrp="1"/>
          </p:cNvSpPr>
          <p:nvPr/>
        </p:nvSpPr>
        <p:spPr>
          <a:xfrm>
            <a:off x="736600" y="3708400"/>
            <a:ext cx="32766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7452FB7-6B4D-428E-8F6B-EE4F9F6B7BAD}"/>
              </a:ext>
            </a:extLst>
          </p:cNvPr>
          <p:cNvSpPr>
            <a:spLocks noGrp="1"/>
          </p:cNvSpPr>
          <p:nvPr/>
        </p:nvSpPr>
        <p:spPr>
          <a:xfrm>
            <a:off x="939800" y="3924300"/>
            <a:ext cx="558800" cy="558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BA21CA-1936-4042-A375-CA4BF11CBCFB}"/>
              </a:ext>
            </a:extLst>
          </p:cNvPr>
          <p:cNvSpPr>
            <a:spLocks noGrp="1"/>
          </p:cNvSpPr>
          <p:nvPr/>
        </p:nvSpPr>
        <p:spPr>
          <a:xfrm>
            <a:off x="939800" y="3937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12577D-96BB-489A-B4E2-D30109AA9C35}"/>
              </a:ext>
            </a:extLst>
          </p:cNvPr>
          <p:cNvSpPr>
            <a:spLocks noGrp="1"/>
          </p:cNvSpPr>
          <p:nvPr/>
        </p:nvSpPr>
        <p:spPr>
          <a:xfrm>
            <a:off x="1676400" y="3916606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Act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1DCC49-70E9-4D6A-8A26-2C28249926A2}"/>
              </a:ext>
            </a:extLst>
          </p:cNvPr>
          <p:cNvSpPr>
            <a:spLocks noGrp="1"/>
          </p:cNvSpPr>
          <p:nvPr/>
        </p:nvSpPr>
        <p:spPr>
          <a:xfrm>
            <a:off x="990600" y="4628177"/>
            <a:ext cx="2768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 v2 + native scx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0162974-E746-4A19-906C-331584DEDFC0}"/>
              </a:ext>
            </a:extLst>
          </p:cNvPr>
          <p:cNvSpPr>
            <a:spLocks noGrp="1"/>
          </p:cNvSpPr>
          <p:nvPr/>
        </p:nvSpPr>
        <p:spPr>
          <a:xfrm>
            <a:off x="4368800" y="3708400"/>
            <a:ext cx="32766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65F0C49-0FF0-4D8D-AF5C-8D6A903679DF}"/>
              </a:ext>
            </a:extLst>
          </p:cNvPr>
          <p:cNvSpPr>
            <a:spLocks noGrp="1"/>
          </p:cNvSpPr>
          <p:nvPr/>
        </p:nvSpPr>
        <p:spPr>
          <a:xfrm>
            <a:off x="4572000" y="3924300"/>
            <a:ext cx="558800" cy="558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662F401-5818-41D2-9C0D-80C6E5720D91}"/>
              </a:ext>
            </a:extLst>
          </p:cNvPr>
          <p:cNvSpPr>
            <a:spLocks noGrp="1"/>
          </p:cNvSpPr>
          <p:nvPr/>
        </p:nvSpPr>
        <p:spPr>
          <a:xfrm>
            <a:off x="4572000" y="3937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5BABB8B-B330-44AD-B15C-585B692C4FCC}"/>
              </a:ext>
            </a:extLst>
          </p:cNvPr>
          <p:cNvSpPr>
            <a:spLocks noGrp="1"/>
          </p:cNvSpPr>
          <p:nvPr/>
        </p:nvSpPr>
        <p:spPr>
          <a:xfrm>
            <a:off x="5308600" y="3916606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C127B05-A72D-4CDF-977A-E8DA137B92CA}"/>
              </a:ext>
            </a:extLst>
          </p:cNvPr>
          <p:cNvSpPr>
            <a:spLocks noGrp="1"/>
          </p:cNvSpPr>
          <p:nvPr/>
        </p:nvSpPr>
        <p:spPr>
          <a:xfrm>
            <a:off x="4622800" y="4628178"/>
            <a:ext cx="2768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RPS / P99 / 公平性 / 内核健康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83A1B46-FB7E-4CE9-A094-5D5E4F7FDB56}"/>
              </a:ext>
            </a:extLst>
          </p:cNvPr>
          <p:cNvSpPr>
            <a:spLocks noGrp="1"/>
          </p:cNvSpPr>
          <p:nvPr/>
        </p:nvSpPr>
        <p:spPr>
          <a:xfrm>
            <a:off x="8001000" y="3708400"/>
            <a:ext cx="32766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E880CD3-A4F1-405F-B318-DC81A40B4657}"/>
              </a:ext>
            </a:extLst>
          </p:cNvPr>
          <p:cNvSpPr>
            <a:spLocks noGrp="1"/>
          </p:cNvSpPr>
          <p:nvPr/>
        </p:nvSpPr>
        <p:spPr>
          <a:xfrm>
            <a:off x="8204200" y="3924300"/>
            <a:ext cx="558800" cy="558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062E394-5614-4544-A8DE-E66FD56B090E}"/>
              </a:ext>
            </a:extLst>
          </p:cNvPr>
          <p:cNvSpPr>
            <a:spLocks noGrp="1"/>
          </p:cNvSpPr>
          <p:nvPr/>
        </p:nvSpPr>
        <p:spPr>
          <a:xfrm>
            <a:off x="8204200" y="39370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94EC437-A692-4891-BF96-42670DACDAB5}"/>
              </a:ext>
            </a:extLst>
          </p:cNvPr>
          <p:cNvSpPr>
            <a:spLocks noGrp="1"/>
          </p:cNvSpPr>
          <p:nvPr/>
        </p:nvSpPr>
        <p:spPr>
          <a:xfrm>
            <a:off x="8940800" y="3916606"/>
            <a:ext cx="209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Rollback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CFEF2D3-7555-41C8-8DF7-BBCF0FA519F2}"/>
              </a:ext>
            </a:extLst>
          </p:cNvPr>
          <p:cNvSpPr>
            <a:spLocks noGrp="1"/>
          </p:cNvSpPr>
          <p:nvPr/>
        </p:nvSpPr>
        <p:spPr>
          <a:xfrm>
            <a:off x="8255000" y="4628177"/>
            <a:ext cx="2768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跨执行面恢复与残留检查</a:t>
            </a:r>
          </a:p>
        </p:txBody>
      </p:sp>
    </p:spTree>
    <p:extLst>
      <p:ext uri="{BB962C8B-B14F-4D97-AF65-F5344CB8AC3E}">
        <p14:creationId xmlns:p14="http://schemas.microsoft.com/office/powerpoint/2010/main" val="157873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57CC18-92E6-4706-9B54-D319ACE3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2.2 三项机制让性能收益可信、可解释、可恢复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3FB0309-7D13-431C-90A9-8C4402256D6A}"/>
              </a:ext>
            </a:extLst>
          </p:cNvPr>
          <p:cNvSpPr>
            <a:spLocks noGrp="1"/>
          </p:cNvSpPr>
          <p:nvPr/>
        </p:nvSpPr>
        <p:spPr>
          <a:xfrm>
            <a:off x="736600" y="1816100"/>
            <a:ext cx="3276600" cy="355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DDF425-9D74-4854-BE4D-36ED49F7DF12}"/>
              </a:ext>
            </a:extLst>
          </p:cNvPr>
          <p:cNvSpPr>
            <a:spLocks noGrp="1"/>
          </p:cNvSpPr>
          <p:nvPr/>
        </p:nvSpPr>
        <p:spPr>
          <a:xfrm>
            <a:off x="965200" y="1957745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6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7BE84C-35B2-45E1-A40E-24ED52A550C9}"/>
              </a:ext>
            </a:extLst>
          </p:cNvPr>
          <p:cNvSpPr>
            <a:spLocks noGrp="1"/>
          </p:cNvSpPr>
          <p:nvPr/>
        </p:nvSpPr>
        <p:spPr>
          <a:xfrm>
            <a:off x="965200" y="2656617"/>
            <a:ext cx="2794000" cy="32316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真实 native scx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77EDC0-5C90-4666-A49A-1D63CD654AA1}"/>
              </a:ext>
            </a:extLst>
          </p:cNvPr>
          <p:cNvSpPr>
            <a:spLocks noGrp="1"/>
          </p:cNvSpPr>
          <p:nvPr/>
        </p:nvSpPr>
        <p:spPr>
          <a:xfrm>
            <a:off x="965200" y="3399051"/>
            <a:ext cx="2794000" cy="69249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BPF struct_ops + 三类 DSQ + weighted-vtime；用户态通过 map 动态下发分类与权重。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C96170-521B-414C-BFBB-7BA9BF7238C2}"/>
              </a:ext>
            </a:extLst>
          </p:cNvPr>
          <p:cNvSpPr>
            <a:spLocks noGrp="1"/>
          </p:cNvSpPr>
          <p:nvPr/>
        </p:nvSpPr>
        <p:spPr>
          <a:xfrm>
            <a:off x="4368800" y="1816100"/>
            <a:ext cx="3276600" cy="355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0368A9-5666-44F7-811B-C630D28795FE}"/>
              </a:ext>
            </a:extLst>
          </p:cNvPr>
          <p:cNvSpPr>
            <a:spLocks noGrp="1"/>
          </p:cNvSpPr>
          <p:nvPr/>
        </p:nvSpPr>
        <p:spPr>
          <a:xfrm>
            <a:off x="4597400" y="1957745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6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E3EAA1-16BD-41E6-93B0-26F0E5F16E51}"/>
              </a:ext>
            </a:extLst>
          </p:cNvPr>
          <p:cNvSpPr>
            <a:spLocks noGrp="1"/>
          </p:cNvSpPr>
          <p:nvPr/>
        </p:nvSpPr>
        <p:spPr>
          <a:xfrm>
            <a:off x="4597400" y="2656617"/>
            <a:ext cx="2794000" cy="32316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公平性门控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1FB963-CA90-443C-8EA0-344997959DAF}"/>
              </a:ext>
            </a:extLst>
          </p:cNvPr>
          <p:cNvSpPr>
            <a:spLocks noGrp="1"/>
          </p:cNvSpPr>
          <p:nvPr/>
        </p:nvSpPr>
        <p:spPr>
          <a:xfrm>
            <a:off x="4597400" y="3399051"/>
            <a:ext cx="2794000" cy="69249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统计后台 CPU 进度；低于 25% 保留率的实验自动标记为无效，拒绝“饿死后台”。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2DC9226-A7E0-4D34-BA1E-E3575C78C1C8}"/>
              </a:ext>
            </a:extLst>
          </p:cNvPr>
          <p:cNvSpPr>
            <a:spLocks noGrp="1"/>
          </p:cNvSpPr>
          <p:nvPr/>
        </p:nvSpPr>
        <p:spPr>
          <a:xfrm>
            <a:off x="8001000" y="1816100"/>
            <a:ext cx="3276600" cy="355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49F78E8-1EDE-46E9-9C8A-F4742DE2D9C2}"/>
              </a:ext>
            </a:extLst>
          </p:cNvPr>
          <p:cNvSpPr>
            <a:spLocks noGrp="1"/>
          </p:cNvSpPr>
          <p:nvPr/>
        </p:nvSpPr>
        <p:spPr>
          <a:xfrm>
            <a:off x="8229600" y="1957745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6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688AC4-3B3D-4B3E-B82E-5FC5C2C28ACF}"/>
              </a:ext>
            </a:extLst>
          </p:cNvPr>
          <p:cNvSpPr>
            <a:spLocks noGrp="1"/>
          </p:cNvSpPr>
          <p:nvPr/>
        </p:nvSpPr>
        <p:spPr>
          <a:xfrm>
            <a:off x="8229600" y="2656617"/>
            <a:ext cx="2794000" cy="32316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21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Canary 原子回滚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66C9B2-2FC6-4AE2-97AE-04F7FD675767}"/>
              </a:ext>
            </a:extLst>
          </p:cNvPr>
          <p:cNvSpPr>
            <a:spLocks noGrp="1"/>
          </p:cNvSpPr>
          <p:nvPr/>
        </p:nvSpPr>
        <p:spPr>
          <a:xfrm>
            <a:off x="8229600" y="3399051"/>
            <a:ext cx="2794000" cy="69249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5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动作前后运行真实 wrk；RPS、P99、后台进度或 nr_rejected 失败即跨 cgroup/scx 回滚。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B05519-8B46-4EE9-81E0-E6AE8CAE3F4B}"/>
              </a:ext>
            </a:extLst>
          </p:cNvPr>
          <p:cNvSpPr>
            <a:spLocks noGrp="1"/>
          </p:cNvSpPr>
          <p:nvPr/>
        </p:nvSpPr>
        <p:spPr>
          <a:xfrm>
            <a:off x="736600" y="5699983"/>
            <a:ext cx="10541000" cy="230832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正式演示由 DeepSeek 生成受约束提案；Schema、白名单、Canary 与规则 fallback 保证执行安全。</a:t>
            </a:r>
          </a:p>
        </p:txBody>
      </p:sp>
    </p:spTree>
    <p:extLst>
      <p:ext uri="{BB962C8B-B14F-4D97-AF65-F5344CB8AC3E}">
        <p14:creationId xmlns:p14="http://schemas.microsoft.com/office/powerpoint/2010/main" val="175796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2455FEC-068E-425B-8F43-6526ED31C77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技术难点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20744-A7D3-4AE3-9ADB-FBB8A30F024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 openEuler SP4 上打通内核能力、特权执行与失败恢复</a:t>
            </a:r>
          </a:p>
        </p:txBody>
      </p:sp>
    </p:spTree>
    <p:extLst>
      <p:ext uri="{BB962C8B-B14F-4D97-AF65-F5344CB8AC3E}">
        <p14:creationId xmlns:p14="http://schemas.microsoft.com/office/powerpoint/2010/main" val="321173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B495144-2A3D-4B24-BBA3-A4FFD32F6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3.1 打通 openEuler SP4 的真实 sched_ext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D5AE372-3F4A-4859-B4A3-EE5316BB8359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746500" cy="154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2F6942-15FA-4E18-9B94-4B9BC478DD07}"/>
              </a:ext>
            </a:extLst>
          </p:cNvPr>
          <p:cNvSpPr>
            <a:spLocks noGrp="1"/>
          </p:cNvSpPr>
          <p:nvPr/>
        </p:nvSpPr>
        <p:spPr>
          <a:xfrm>
            <a:off x="939800" y="18923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openEuler SP4 stock kernel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74952D-6E99-4E37-AB55-BD6DAE6AF77F}"/>
              </a:ext>
            </a:extLst>
          </p:cNvPr>
          <p:cNvSpPr>
            <a:spLocks noGrp="1"/>
          </p:cNvSpPr>
          <p:nvPr/>
        </p:nvSpPr>
        <p:spPr>
          <a:xfrm>
            <a:off x="939800" y="2272556"/>
            <a:ext cx="32385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未启用 CONFIG_SCHED_CLASS_EXT</a:t>
            </a:r>
          </a:p>
          <a:p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自动进入 cgroup-only fallback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6136DD4E-3A79-4C75-B542-9CC4CAB2EEFD}"/>
              </a:ext>
            </a:extLst>
          </p:cNvPr>
          <p:cNvSpPr>
            <a:spLocks noGrp="1"/>
          </p:cNvSpPr>
          <p:nvPr/>
        </p:nvSpPr>
        <p:spPr>
          <a:xfrm>
            <a:off x="4572000" y="2489200"/>
            <a:ext cx="889000" cy="0"/>
          </a:xfrm>
          <a:prstGeom prst="line">
            <a:avLst/>
          </a:prstGeom>
          <a:ln w="381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EA1D2F7-F884-461B-BDD4-A667D143EA65}"/>
              </a:ext>
            </a:extLst>
          </p:cNvPr>
          <p:cNvSpPr>
            <a:spLocks noGrp="1"/>
          </p:cNvSpPr>
          <p:nvPr/>
        </p:nvSpPr>
        <p:spPr>
          <a:xfrm>
            <a:off x="5600700" y="1714500"/>
            <a:ext cx="5867400" cy="1549400"/>
          </a:xfrm>
          <a:prstGeom prst="roundRect">
            <a:avLst/>
          </a:prstGeom>
          <a:solidFill>
            <a:srgbClr val="E1E9FC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7DEB7A4-822B-4AD5-982D-EBFE74217F3A}"/>
              </a:ext>
            </a:extLst>
          </p:cNvPr>
          <p:cNvSpPr>
            <a:spLocks noGrp="1"/>
          </p:cNvSpPr>
          <p:nvPr/>
        </p:nvSpPr>
        <p:spPr>
          <a:xfrm>
            <a:off x="5867400" y="18923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可审计的 schedx1 内核路径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7F568C-AEA6-4DE8-827C-0BFA850119A9}"/>
              </a:ext>
            </a:extLst>
          </p:cNvPr>
          <p:cNvSpPr>
            <a:spLocks noGrp="1"/>
          </p:cNvSpPr>
          <p:nvPr/>
        </p:nvSpPr>
        <p:spPr>
          <a:xfrm>
            <a:off x="5867400" y="2259856"/>
            <a:ext cx="53340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官方源 RPM + 最小配置启用 + 独立版本后缀</a:t>
            </a:r>
          </a:p>
          <a:p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保留 stock kernel 回退入口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976C1E98-1F6E-4FE3-9FAE-9E1B909B03F5}"/>
              </a:ext>
            </a:extLst>
          </p:cNvPr>
          <p:cNvSpPr>
            <a:spLocks noGrp="1"/>
          </p:cNvSpPr>
          <p:nvPr/>
        </p:nvSpPr>
        <p:spPr>
          <a:xfrm>
            <a:off x="2159000" y="4508500"/>
            <a:ext cx="11430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2C7ADE94-AA7E-4EBB-B7B1-8D2F7895144C}"/>
              </a:ext>
            </a:extLst>
          </p:cNvPr>
          <p:cNvSpPr>
            <a:spLocks noGrp="1"/>
          </p:cNvSpPr>
          <p:nvPr/>
        </p:nvSpPr>
        <p:spPr>
          <a:xfrm>
            <a:off x="5461000" y="4508500"/>
            <a:ext cx="11430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7C0581ED-4EF0-4A0E-B461-48DC9751067C}"/>
              </a:ext>
            </a:extLst>
          </p:cNvPr>
          <p:cNvSpPr>
            <a:spLocks noGrp="1"/>
          </p:cNvSpPr>
          <p:nvPr/>
        </p:nvSpPr>
        <p:spPr>
          <a:xfrm>
            <a:off x="8763000" y="4508500"/>
            <a:ext cx="11430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6ACD69A-7B61-4CC7-90D7-25CA64553AF8}"/>
              </a:ext>
            </a:extLst>
          </p:cNvPr>
          <p:cNvSpPr>
            <a:spLocks noGrp="1"/>
          </p:cNvSpPr>
          <p:nvPr/>
        </p:nvSpPr>
        <p:spPr>
          <a:xfrm>
            <a:off x="698500" y="3937000"/>
            <a:ext cx="2349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01403B-FD2A-442A-8791-49273350CE49}"/>
              </a:ext>
            </a:extLst>
          </p:cNvPr>
          <p:cNvSpPr>
            <a:spLocks noGrp="1"/>
          </p:cNvSpPr>
          <p:nvPr/>
        </p:nvSpPr>
        <p:spPr>
          <a:xfrm>
            <a:off x="850900" y="4084394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用户态 Agent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DFF7FB-24B5-48D2-861A-EFFE68659847}"/>
              </a:ext>
            </a:extLst>
          </p:cNvPr>
          <p:cNvSpPr>
            <a:spLocks noGrp="1"/>
          </p:cNvSpPr>
          <p:nvPr/>
        </p:nvSpPr>
        <p:spPr>
          <a:xfrm>
            <a:off x="850900" y="4541967"/>
            <a:ext cx="20447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分类 / 权重 / 生命周期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82E841-1E59-46EA-B80E-7668D65962A2}"/>
              </a:ext>
            </a:extLst>
          </p:cNvPr>
          <p:cNvSpPr>
            <a:spLocks noGrp="1"/>
          </p:cNvSpPr>
          <p:nvPr/>
        </p:nvSpPr>
        <p:spPr>
          <a:xfrm>
            <a:off x="3492500" y="3937000"/>
            <a:ext cx="2349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A8665C-E53C-4CB7-A6A9-B012CC0EAF27}"/>
              </a:ext>
            </a:extLst>
          </p:cNvPr>
          <p:cNvSpPr>
            <a:spLocks noGrp="1"/>
          </p:cNvSpPr>
          <p:nvPr/>
        </p:nvSpPr>
        <p:spPr>
          <a:xfrm>
            <a:off x="3644900" y="4084394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scx daemon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227E507-D26A-4A89-A2AA-D11E8AB2AC9A}"/>
              </a:ext>
            </a:extLst>
          </p:cNvPr>
          <p:cNvSpPr>
            <a:spLocks noGrp="1"/>
          </p:cNvSpPr>
          <p:nvPr/>
        </p:nvSpPr>
        <p:spPr>
          <a:xfrm>
            <a:off x="3644900" y="4541967"/>
            <a:ext cx="20447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唯一 struct_ops owner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70CB01A-22AB-481A-AEAF-25196503B1E5}"/>
              </a:ext>
            </a:extLst>
          </p:cNvPr>
          <p:cNvSpPr>
            <a:spLocks noGrp="1"/>
          </p:cNvSpPr>
          <p:nvPr/>
        </p:nvSpPr>
        <p:spPr>
          <a:xfrm>
            <a:off x="6286500" y="3937000"/>
            <a:ext cx="2349500" cy="1168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4233C8-ED65-48FF-9F5A-CB71AA06E6CF}"/>
              </a:ext>
            </a:extLst>
          </p:cNvPr>
          <p:cNvSpPr>
            <a:spLocks noGrp="1"/>
          </p:cNvSpPr>
          <p:nvPr/>
        </p:nvSpPr>
        <p:spPr>
          <a:xfrm>
            <a:off x="6438900" y="4084394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BPF maps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E2BCA8-2A47-40F7-9BD0-709DEA8B3E92}"/>
              </a:ext>
            </a:extLst>
          </p:cNvPr>
          <p:cNvSpPr>
            <a:spLocks noGrp="1"/>
          </p:cNvSpPr>
          <p:nvPr/>
        </p:nvSpPr>
        <p:spPr>
          <a:xfrm>
            <a:off x="6438900" y="4541967"/>
            <a:ext cx="20447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task / cgroup policy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042FED8-75FF-4068-87D1-914CEB926753}"/>
              </a:ext>
            </a:extLst>
          </p:cNvPr>
          <p:cNvSpPr>
            <a:spLocks noGrp="1"/>
          </p:cNvSpPr>
          <p:nvPr/>
        </p:nvSpPr>
        <p:spPr>
          <a:xfrm>
            <a:off x="9080500" y="3937000"/>
            <a:ext cx="2349500" cy="1168400"/>
          </a:xfrm>
          <a:prstGeom prst="round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488700-E85B-43F3-A9A5-9998220DFACC}"/>
              </a:ext>
            </a:extLst>
          </p:cNvPr>
          <p:cNvSpPr>
            <a:spLocks noGrp="1"/>
          </p:cNvSpPr>
          <p:nvPr/>
        </p:nvSpPr>
        <p:spPr>
          <a:xfrm>
            <a:off x="9232900" y="4084394"/>
            <a:ext cx="20447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scx_agent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9BB7E7-92A0-41DC-8A15-5F8CE00EEEFF}"/>
              </a:ext>
            </a:extLst>
          </p:cNvPr>
          <p:cNvSpPr>
            <a:spLocks noGrp="1"/>
          </p:cNvSpPr>
          <p:nvPr/>
        </p:nvSpPr>
        <p:spPr>
          <a:xfrm>
            <a:off x="9232900" y="4449634"/>
            <a:ext cx="2044700" cy="369332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latency / batch / background DSQ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EE5B0B-61F5-4081-A8CF-DBCABBB5359E}"/>
              </a:ext>
            </a:extLst>
          </p:cNvPr>
          <p:cNvSpPr>
            <a:spLocks noGrp="1"/>
          </p:cNvSpPr>
          <p:nvPr/>
        </p:nvSpPr>
        <p:spPr>
          <a:xfrm>
            <a:off x="571500" y="624145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实测环境：openEuler 24.03 LTS SP4，kernel 6.6.0-159.4.3.154.oe2403sp4.schedx1。</a:t>
            </a:r>
          </a:p>
        </p:txBody>
      </p:sp>
    </p:spTree>
    <p:extLst>
      <p:ext uri="{BB962C8B-B14F-4D97-AF65-F5344CB8AC3E}">
        <p14:creationId xmlns:p14="http://schemas.microsoft.com/office/powerpoint/2010/main" val="270853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52314E7-D508-4EB1-817B-9B2BE2FB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3.2 特权动作必须经过四道安全门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523C572-F277-4C68-BEC4-43B2B765C97A}"/>
              </a:ext>
            </a:extLst>
          </p:cNvPr>
          <p:cNvSpPr>
            <a:spLocks noGrp="1"/>
          </p:cNvSpPr>
          <p:nvPr/>
        </p:nvSpPr>
        <p:spPr>
          <a:xfrm>
            <a:off x="2336800" y="2425700"/>
            <a:ext cx="0" cy="30480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1BA2EF-F9FC-49C3-BEC7-3DC1977DF283}"/>
              </a:ext>
            </a:extLst>
          </p:cNvPr>
          <p:cNvSpPr>
            <a:spLocks noGrp="1"/>
          </p:cNvSpPr>
          <p:nvPr/>
        </p:nvSpPr>
        <p:spPr>
          <a:xfrm>
            <a:off x="889000" y="1689100"/>
            <a:ext cx="2794000" cy="812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B046C1-1810-4E4E-954F-0903E516836F}"/>
              </a:ext>
            </a:extLst>
          </p:cNvPr>
          <p:cNvSpPr>
            <a:spLocks noGrp="1"/>
          </p:cNvSpPr>
          <p:nvPr/>
        </p:nvSpPr>
        <p:spPr>
          <a:xfrm>
            <a:off x="1092200" y="1775311"/>
            <a:ext cx="2387600" cy="30777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目标门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760FD4A-4A7C-498B-BD89-D553C3CB267B}"/>
              </a:ext>
            </a:extLst>
          </p:cNvPr>
          <p:cNvSpPr>
            <a:spLocks noGrp="1"/>
          </p:cNvSpPr>
          <p:nvPr/>
        </p:nvSpPr>
        <p:spPr>
          <a:xfrm>
            <a:off x="4064000" y="1689100"/>
            <a:ext cx="7239000" cy="8128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664ADA-D7D9-44F4-A997-9562DF80C1F1}"/>
              </a:ext>
            </a:extLst>
          </p:cNvPr>
          <p:cNvSpPr>
            <a:spLocks noGrp="1"/>
          </p:cNvSpPr>
          <p:nvPr/>
        </p:nvSpPr>
        <p:spPr>
          <a:xfrm>
            <a:off x="4330700" y="1821478"/>
            <a:ext cx="6705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精确 comm / cmdline / child 关系；保护 schedx、sshd、systemd 等进程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6F426F27-DD29-4BF7-98A7-D9C6085C4BD6}"/>
              </a:ext>
            </a:extLst>
          </p:cNvPr>
          <p:cNvSpPr>
            <a:spLocks noGrp="1"/>
          </p:cNvSpPr>
          <p:nvPr/>
        </p:nvSpPr>
        <p:spPr>
          <a:xfrm>
            <a:off x="2336800" y="3467100"/>
            <a:ext cx="0" cy="30480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CD1E079-267D-493F-BA10-ECFEF0B16394}"/>
              </a:ext>
            </a:extLst>
          </p:cNvPr>
          <p:cNvSpPr>
            <a:spLocks noGrp="1"/>
          </p:cNvSpPr>
          <p:nvPr/>
        </p:nvSpPr>
        <p:spPr>
          <a:xfrm>
            <a:off x="889000" y="2730500"/>
            <a:ext cx="2794000" cy="812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18FED1-A9A4-4E4C-9813-09641DDCDD39}"/>
              </a:ext>
            </a:extLst>
          </p:cNvPr>
          <p:cNvSpPr>
            <a:spLocks noGrp="1"/>
          </p:cNvSpPr>
          <p:nvPr/>
        </p:nvSpPr>
        <p:spPr>
          <a:xfrm>
            <a:off x="1092200" y="2816711"/>
            <a:ext cx="2387600" cy="30777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动作门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DE468D9-462C-442B-AF48-C8D36FF7382B}"/>
              </a:ext>
            </a:extLst>
          </p:cNvPr>
          <p:cNvSpPr>
            <a:spLocks noGrp="1"/>
          </p:cNvSpPr>
          <p:nvPr/>
        </p:nvSpPr>
        <p:spPr>
          <a:xfrm>
            <a:off x="4064000" y="2730500"/>
            <a:ext cx="7239000" cy="8128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115FCD-5793-40C3-A0F6-77EF28744FE4}"/>
              </a:ext>
            </a:extLst>
          </p:cNvPr>
          <p:cNvSpPr>
            <a:spLocks noGrp="1"/>
          </p:cNvSpPr>
          <p:nvPr/>
        </p:nvSpPr>
        <p:spPr>
          <a:xfrm>
            <a:off x="4330700" y="2862877"/>
            <a:ext cx="6705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结构化 Action、白名单命令、风险级别、写前 rollback 元数据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F14189D0-4CFD-408E-A423-5063CE5DF472}"/>
              </a:ext>
            </a:extLst>
          </p:cNvPr>
          <p:cNvSpPr>
            <a:spLocks noGrp="1"/>
          </p:cNvSpPr>
          <p:nvPr/>
        </p:nvSpPr>
        <p:spPr>
          <a:xfrm>
            <a:off x="2336800" y="4508500"/>
            <a:ext cx="0" cy="30480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8D80F3-7152-4179-ACBD-212D01FB912A}"/>
              </a:ext>
            </a:extLst>
          </p:cNvPr>
          <p:cNvSpPr>
            <a:spLocks noGrp="1"/>
          </p:cNvSpPr>
          <p:nvPr/>
        </p:nvSpPr>
        <p:spPr>
          <a:xfrm>
            <a:off x="889000" y="3771900"/>
            <a:ext cx="2794000" cy="812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BBDDC13-65BA-41F3-A847-9D7755D8AC59}"/>
              </a:ext>
            </a:extLst>
          </p:cNvPr>
          <p:cNvSpPr>
            <a:spLocks noGrp="1"/>
          </p:cNvSpPr>
          <p:nvPr/>
        </p:nvSpPr>
        <p:spPr>
          <a:xfrm>
            <a:off x="1092200" y="3858111"/>
            <a:ext cx="2387600" cy="30777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验证门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48B7468-2DC4-4B87-9515-74D013CCE4F8}"/>
              </a:ext>
            </a:extLst>
          </p:cNvPr>
          <p:cNvSpPr>
            <a:spLocks noGrp="1"/>
          </p:cNvSpPr>
          <p:nvPr/>
        </p:nvSpPr>
        <p:spPr>
          <a:xfrm>
            <a:off x="4064000" y="3771900"/>
            <a:ext cx="7239000" cy="8128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DE525D-2BBF-4E00-9929-A25DADD39D76}"/>
              </a:ext>
            </a:extLst>
          </p:cNvPr>
          <p:cNvSpPr>
            <a:spLocks noGrp="1"/>
          </p:cNvSpPr>
          <p:nvPr/>
        </p:nvSpPr>
        <p:spPr>
          <a:xfrm>
            <a:off x="4330700" y="3904277"/>
            <a:ext cx="6705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真实 RPS / P99、后台 CPU 保留率、sched_ext nr_rejected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7072A1D-8C14-419C-B3D2-184A62FFEF53}"/>
              </a:ext>
            </a:extLst>
          </p:cNvPr>
          <p:cNvSpPr>
            <a:spLocks noGrp="1"/>
          </p:cNvSpPr>
          <p:nvPr/>
        </p:nvSpPr>
        <p:spPr>
          <a:xfrm>
            <a:off x="889000" y="4813300"/>
            <a:ext cx="2794000" cy="812800"/>
          </a:xfrm>
          <a:prstGeom prst="round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FD2C27-8C7F-4B1F-8509-5A0043958AE9}"/>
              </a:ext>
            </a:extLst>
          </p:cNvPr>
          <p:cNvSpPr>
            <a:spLocks noGrp="1"/>
          </p:cNvSpPr>
          <p:nvPr/>
        </p:nvSpPr>
        <p:spPr>
          <a:xfrm>
            <a:off x="1092200" y="4899511"/>
            <a:ext cx="2387600" cy="30777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恢复门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91D0F84-4EF1-46FB-8A9D-6D3393731035}"/>
              </a:ext>
            </a:extLst>
          </p:cNvPr>
          <p:cNvSpPr>
            <a:spLocks noGrp="1"/>
          </p:cNvSpPr>
          <p:nvPr/>
        </p:nvSpPr>
        <p:spPr>
          <a:xfrm>
            <a:off x="4064000" y="4813300"/>
            <a:ext cx="7239000" cy="8128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7EF4B4-85AF-4B38-A650-637CC16EAECA}"/>
              </a:ext>
            </a:extLst>
          </p:cNvPr>
          <p:cNvSpPr>
            <a:spLocks noGrp="1"/>
          </p:cNvSpPr>
          <p:nvPr/>
        </p:nvSpPr>
        <p:spPr>
          <a:xfrm>
            <a:off x="4330700" y="4945677"/>
            <a:ext cx="67056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40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恢复控制文件 → 迁回 PID → 删除空 cgroup → 移除 scx policy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2396F9-6F88-4D8E-889D-43DC3E755E60}"/>
              </a:ext>
            </a:extLst>
          </p:cNvPr>
          <p:cNvSpPr>
            <a:spLocks noGrp="1"/>
          </p:cNvSpPr>
          <p:nvPr/>
        </p:nvSpPr>
        <p:spPr>
          <a:xfrm>
            <a:off x="889000" y="5910877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严格 P99 门槛已真实触发 rejected → rolled_back；25 项设置恢复、11 个 cgroup 删除、10 条 scx policy 移除。</a:t>
            </a:r>
          </a:p>
        </p:txBody>
      </p:sp>
    </p:spTree>
    <p:extLst>
      <p:ext uri="{BB962C8B-B14F-4D97-AF65-F5344CB8AC3E}">
        <p14:creationId xmlns:p14="http://schemas.microsoft.com/office/powerpoint/2010/main" val="1267207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6C22621-35A8-4908-82D3-C48AC415D67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项目测试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3F517F-8868-47B0-8900-7F6DBD6F8F0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用四组消融、第二 workload 与失败注入证明闭环有效</a:t>
            </a:r>
          </a:p>
        </p:txBody>
      </p:sp>
    </p:spTree>
    <p:extLst>
      <p:ext uri="{BB962C8B-B14F-4D97-AF65-F5344CB8AC3E}">
        <p14:creationId xmlns:p14="http://schemas.microsoft.com/office/powerpoint/2010/main" val="174095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01FCF00-DCD8-4704-8342-754A54F95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4.1 正式实验环境与质量门槛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0FDB96-2551-4ADE-B456-6ACE14BB3E5A}"/>
              </a:ext>
            </a:extLst>
          </p:cNvPr>
          <p:cNvSpPr>
            <a:spLocks noGrp="1"/>
          </p:cNvSpPr>
          <p:nvPr/>
        </p:nvSpPr>
        <p:spPr>
          <a:xfrm>
            <a:off x="698500" y="171450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274086-9CF9-4785-BCDB-25AFE3D87861}"/>
              </a:ext>
            </a:extLst>
          </p:cNvPr>
          <p:cNvSpPr>
            <a:spLocks noGrp="1"/>
          </p:cNvSpPr>
          <p:nvPr/>
        </p:nvSpPr>
        <p:spPr>
          <a:xfrm>
            <a:off x="876300" y="1739156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 vCPU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B7B28C-E01E-4749-A4C4-2767BF57D868}"/>
              </a:ext>
            </a:extLst>
          </p:cNvPr>
          <p:cNvSpPr>
            <a:spLocks noGrp="1"/>
          </p:cNvSpPr>
          <p:nvPr/>
        </p:nvSpPr>
        <p:spPr>
          <a:xfrm>
            <a:off x="876300" y="2375272"/>
            <a:ext cx="20574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openEuler SP4 虚拟机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220835E-800E-476D-A8B1-68F2B583E829}"/>
              </a:ext>
            </a:extLst>
          </p:cNvPr>
          <p:cNvSpPr>
            <a:spLocks noGrp="1"/>
          </p:cNvSpPr>
          <p:nvPr/>
        </p:nvSpPr>
        <p:spPr>
          <a:xfrm>
            <a:off x="3429000" y="171450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70B134-0995-43EB-9BA8-F417F76671A8}"/>
              </a:ext>
            </a:extLst>
          </p:cNvPr>
          <p:cNvSpPr>
            <a:spLocks noGrp="1"/>
          </p:cNvSpPr>
          <p:nvPr/>
        </p:nvSpPr>
        <p:spPr>
          <a:xfrm>
            <a:off x="3606800" y="1739156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6E44EB"/>
                </a:solidFill>
                <a:latin typeface="微软雅黑"/>
                <a:ea typeface="微软雅黑"/>
                <a:cs typeface="微软雅黑"/>
              </a:rPr>
              <a:t>20s × 3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3B4F28-1083-4080-B4E6-1F2BF49AFC27}"/>
              </a:ext>
            </a:extLst>
          </p:cNvPr>
          <p:cNvSpPr>
            <a:spLocks noGrp="1"/>
          </p:cNvSpPr>
          <p:nvPr/>
        </p:nvSpPr>
        <p:spPr>
          <a:xfrm>
            <a:off x="3606800" y="2375272"/>
            <a:ext cx="20574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每个 phase 重复实验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382C571-B712-485E-9B8D-AA3ECA858880}"/>
              </a:ext>
            </a:extLst>
          </p:cNvPr>
          <p:cNvSpPr>
            <a:spLocks noGrp="1"/>
          </p:cNvSpPr>
          <p:nvPr/>
        </p:nvSpPr>
        <p:spPr>
          <a:xfrm>
            <a:off x="6159500" y="171450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FC6726-EE14-48C3-9DCB-E65F72CFE90E}"/>
              </a:ext>
            </a:extLst>
          </p:cNvPr>
          <p:cNvSpPr>
            <a:spLocks noGrp="1"/>
          </p:cNvSpPr>
          <p:nvPr/>
        </p:nvSpPr>
        <p:spPr>
          <a:xfrm>
            <a:off x="6337300" y="1739156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1CA669"/>
                </a:solidFill>
                <a:latin typeface="微软雅黑"/>
                <a:ea typeface="微软雅黑"/>
                <a:cs typeface="微软雅黑"/>
              </a:rPr>
              <a:t>133 passed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1F472E-F334-4499-B47D-423615D34DB2}"/>
              </a:ext>
            </a:extLst>
          </p:cNvPr>
          <p:cNvSpPr>
            <a:spLocks noGrp="1"/>
          </p:cNvSpPr>
          <p:nvPr/>
        </p:nvSpPr>
        <p:spPr>
          <a:xfrm>
            <a:off x="6337300" y="2375272"/>
            <a:ext cx="20574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openEuler 自动化测试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9371784-FDFD-4A5C-BBA8-F3F4B7C1A9D4}"/>
              </a:ext>
            </a:extLst>
          </p:cNvPr>
          <p:cNvSpPr>
            <a:spLocks noGrp="1"/>
          </p:cNvSpPr>
          <p:nvPr/>
        </p:nvSpPr>
        <p:spPr>
          <a:xfrm>
            <a:off x="8890000" y="1714500"/>
            <a:ext cx="2413000" cy="127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5B2C90-4921-40F7-9484-C37EDDD78523}"/>
              </a:ext>
            </a:extLst>
          </p:cNvPr>
          <p:cNvSpPr>
            <a:spLocks noGrp="1"/>
          </p:cNvSpPr>
          <p:nvPr/>
        </p:nvSpPr>
        <p:spPr>
          <a:xfrm>
            <a:off x="9067800" y="1739156"/>
            <a:ext cx="20574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800" b="1">
                <a:solidFill>
                  <a:srgbClr val="15BDE5"/>
                </a:solidFill>
                <a:latin typeface="微软雅黑"/>
                <a:ea typeface="微软雅黑"/>
                <a:cs typeface="微软雅黑"/>
              </a:rPr>
              <a:t>0 rejected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3C4154-4BE2-40FE-96A6-08F7CB4BCEF6}"/>
              </a:ext>
            </a:extLst>
          </p:cNvPr>
          <p:cNvSpPr>
            <a:spLocks noGrp="1"/>
          </p:cNvSpPr>
          <p:nvPr/>
        </p:nvSpPr>
        <p:spPr>
          <a:xfrm>
            <a:off x="9067800" y="2375272"/>
            <a:ext cx="20574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sched_ext nr_rejected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4D07882-15B6-40AF-893F-2A6468C6196F}"/>
              </a:ext>
            </a:extLst>
          </p:cNvPr>
          <p:cNvSpPr>
            <a:spLocks noGrp="1"/>
          </p:cNvSpPr>
          <p:nvPr/>
        </p:nvSpPr>
        <p:spPr>
          <a:xfrm>
            <a:off x="698500" y="3429000"/>
            <a:ext cx="5143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F1DBBF-B72A-4D41-B96D-547E0E882A4C}"/>
              </a:ext>
            </a:extLst>
          </p:cNvPr>
          <p:cNvSpPr>
            <a:spLocks noGrp="1"/>
          </p:cNvSpPr>
          <p:nvPr/>
        </p:nvSpPr>
        <p:spPr>
          <a:xfrm>
            <a:off x="965200" y="36195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实验矩阵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D6F5D1-501C-4264-ADE3-0501592CA89A}"/>
              </a:ext>
            </a:extLst>
          </p:cNvPr>
          <p:cNvSpPr>
            <a:spLocks noGrp="1"/>
          </p:cNvSpPr>
          <p:nvPr/>
        </p:nvSpPr>
        <p:spPr>
          <a:xfrm>
            <a:off x="984250" y="4052564"/>
            <a:ext cx="4572000" cy="94923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nginx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wrk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+ stress-ng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四组消融</a:t>
            </a:r>
            <a:endParaRPr sz="1500" dirty="0">
              <a:solidFill>
                <a:srgbClr val="12192C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sysbench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+ stress-ng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第二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workload</a:t>
            </a:r>
          </a:p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DeepSeek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Agent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trace：accepted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/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rolled_back</a:t>
            </a:r>
            <a:endParaRPr sz="1500" dirty="0">
              <a:solidFill>
                <a:srgbClr val="1219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369015F-96DF-4868-89CC-42DB0A992ADB}"/>
              </a:ext>
            </a:extLst>
          </p:cNvPr>
          <p:cNvSpPr>
            <a:spLocks noGrp="1"/>
          </p:cNvSpPr>
          <p:nvPr/>
        </p:nvSpPr>
        <p:spPr>
          <a:xfrm>
            <a:off x="6159500" y="3429000"/>
            <a:ext cx="5143500" cy="20955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94635A-B456-48A6-92A1-C28B623F350F}"/>
              </a:ext>
            </a:extLst>
          </p:cNvPr>
          <p:cNvSpPr>
            <a:spLocks noGrp="1"/>
          </p:cNvSpPr>
          <p:nvPr/>
        </p:nvSpPr>
        <p:spPr>
          <a:xfrm>
            <a:off x="6604000" y="3584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 dirty="0" err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有效性约束</a:t>
            </a:r>
            <a:endParaRPr b="1" dirty="0">
              <a:solidFill>
                <a:srgbClr val="101F4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77E8B6-6106-41BE-840C-734DBDA80144}"/>
              </a:ext>
            </a:extLst>
          </p:cNvPr>
          <p:cNvSpPr>
            <a:spLocks noGrp="1"/>
          </p:cNvSpPr>
          <p:nvPr/>
        </p:nvSpPr>
        <p:spPr>
          <a:xfrm>
            <a:off x="6445250" y="4002133"/>
            <a:ext cx="4572000" cy="949234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相同参数、保留全部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raw output</a:t>
            </a:r>
          </a:p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后台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CPU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保留率不得低于</a:t>
            </a: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 25%</a:t>
            </a:r>
          </a:p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sz="1500" dirty="0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500" dirty="0" err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失败与负向结果不做人工修饰</a:t>
            </a:r>
            <a:endParaRPr sz="1500" dirty="0">
              <a:solidFill>
                <a:srgbClr val="12192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18888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E1562B-0E36-41C3-A232-23F0003C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4.2 四组消融分离 cgroup、scx 与 Agent 的贡献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016D3A-1BAC-4809-A0B0-6EFA786304D6}"/>
              </a:ext>
            </a:extLst>
          </p:cNvPr>
          <p:cNvSpPr>
            <a:spLocks noGrp="1"/>
          </p:cNvSpPr>
          <p:nvPr/>
        </p:nvSpPr>
        <p:spPr>
          <a:xfrm>
            <a:off x="736600" y="1625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Mean RPS（越高越好）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BB685A-FD62-4D0E-A811-144657974FF4}"/>
              </a:ext>
            </a:extLst>
          </p:cNvPr>
          <p:cNvSpPr>
            <a:spLocks noGrp="1"/>
          </p:cNvSpPr>
          <p:nvPr/>
        </p:nvSpPr>
        <p:spPr>
          <a:xfrm>
            <a:off x="6502400" y="16256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P99 延迟 / ms（越低越好）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809083-4F33-4509-BDFC-79111D3A01F1}"/>
              </a:ext>
            </a:extLst>
          </p:cNvPr>
          <p:cNvSpPr>
            <a:spLocks noGrp="1"/>
          </p:cNvSpPr>
          <p:nvPr/>
        </p:nvSpPr>
        <p:spPr>
          <a:xfrm>
            <a:off x="736600" y="2306766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default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8D00DDB-F507-44DA-870F-66D9B33D098B}"/>
              </a:ext>
            </a:extLst>
          </p:cNvPr>
          <p:cNvSpPr>
            <a:spLocks noGrp="1"/>
          </p:cNvSpPr>
          <p:nvPr/>
        </p:nvSpPr>
        <p:spPr>
          <a:xfrm>
            <a:off x="1968500" y="2286000"/>
            <a:ext cx="1664045" cy="279400"/>
          </a:xfrm>
          <a:prstGeom prst="roundRect">
            <a:avLst/>
          </a:prstGeom>
          <a:solidFill>
            <a:srgbClr val="7C89A3"/>
          </a:solidFill>
          <a:ln w="9525">
            <a:solidFill>
              <a:srgbClr val="7C89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269CBF-865F-454B-B0A9-DF67C94B37C6}"/>
              </a:ext>
            </a:extLst>
          </p:cNvPr>
          <p:cNvSpPr>
            <a:spLocks noGrp="1"/>
          </p:cNvSpPr>
          <p:nvPr/>
        </p:nvSpPr>
        <p:spPr>
          <a:xfrm>
            <a:off x="5207000" y="2306766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56,447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34B8CB-000B-434B-8E7D-C7A288D19F4A}"/>
              </a:ext>
            </a:extLst>
          </p:cNvPr>
          <p:cNvSpPr>
            <a:spLocks noGrp="1"/>
          </p:cNvSpPr>
          <p:nvPr/>
        </p:nvSpPr>
        <p:spPr>
          <a:xfrm>
            <a:off x="6502400" y="2306766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default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0B5AC18-021B-46A2-9560-C90C245632CF}"/>
              </a:ext>
            </a:extLst>
          </p:cNvPr>
          <p:cNvSpPr>
            <a:spLocks noGrp="1"/>
          </p:cNvSpPr>
          <p:nvPr/>
        </p:nvSpPr>
        <p:spPr>
          <a:xfrm>
            <a:off x="8001000" y="2286000"/>
            <a:ext cx="2563447" cy="279400"/>
          </a:xfrm>
          <a:prstGeom prst="roundRect">
            <a:avLst/>
          </a:prstGeom>
          <a:solidFill>
            <a:srgbClr val="7C89A3"/>
          </a:solidFill>
          <a:ln w="9525">
            <a:solidFill>
              <a:srgbClr val="7C89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9CFAF8-C52F-4AEB-B115-1E1F02AF2400}"/>
              </a:ext>
            </a:extLst>
          </p:cNvPr>
          <p:cNvSpPr>
            <a:spLocks noGrp="1"/>
          </p:cNvSpPr>
          <p:nvPr/>
        </p:nvSpPr>
        <p:spPr>
          <a:xfrm>
            <a:off x="10693400" y="2306766"/>
            <a:ext cx="6985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6.60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444A04-1E71-4AD7-A71F-9626989C2D27}"/>
              </a:ext>
            </a:extLst>
          </p:cNvPr>
          <p:cNvSpPr>
            <a:spLocks noGrp="1"/>
          </p:cNvSpPr>
          <p:nvPr/>
        </p:nvSpPr>
        <p:spPr>
          <a:xfrm>
            <a:off x="736600" y="3081467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cgroup-only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68A26E1-23C1-4B9B-A212-0A001C323D2D}"/>
              </a:ext>
            </a:extLst>
          </p:cNvPr>
          <p:cNvSpPr>
            <a:spLocks noGrp="1"/>
          </p:cNvSpPr>
          <p:nvPr/>
        </p:nvSpPr>
        <p:spPr>
          <a:xfrm>
            <a:off x="1968500" y="3060700"/>
            <a:ext cx="2942263" cy="279400"/>
          </a:xfrm>
          <a:prstGeom prst="roundRect">
            <a:avLst/>
          </a:prstGeom>
          <a:solidFill>
            <a:srgbClr val="15BDE5"/>
          </a:solidFill>
          <a:ln w="9525">
            <a:solidFill>
              <a:srgbClr val="15B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C14D36-50B7-431F-A1FF-53EC03219DD3}"/>
              </a:ext>
            </a:extLst>
          </p:cNvPr>
          <p:cNvSpPr>
            <a:spLocks noGrp="1"/>
          </p:cNvSpPr>
          <p:nvPr/>
        </p:nvSpPr>
        <p:spPr>
          <a:xfrm>
            <a:off x="5207000" y="3081466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94,336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613A04-DEDD-4196-A031-4A016F1C7CEE}"/>
              </a:ext>
            </a:extLst>
          </p:cNvPr>
          <p:cNvSpPr>
            <a:spLocks noGrp="1"/>
          </p:cNvSpPr>
          <p:nvPr/>
        </p:nvSpPr>
        <p:spPr>
          <a:xfrm>
            <a:off x="6502400" y="3081466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cgroup-only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5CB7A8-2AB3-4DD1-A563-0C1782A66020}"/>
              </a:ext>
            </a:extLst>
          </p:cNvPr>
          <p:cNvSpPr>
            <a:spLocks noGrp="1"/>
          </p:cNvSpPr>
          <p:nvPr/>
        </p:nvSpPr>
        <p:spPr>
          <a:xfrm>
            <a:off x="8001000" y="3060700"/>
            <a:ext cx="1618176" cy="279400"/>
          </a:xfrm>
          <a:prstGeom prst="roundRect">
            <a:avLst/>
          </a:prstGeom>
          <a:solidFill>
            <a:srgbClr val="15BDE5"/>
          </a:solidFill>
          <a:ln w="9525">
            <a:solidFill>
              <a:srgbClr val="15B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D03DE2-F112-41D6-B8AC-99EED5F7395D}"/>
              </a:ext>
            </a:extLst>
          </p:cNvPr>
          <p:cNvSpPr>
            <a:spLocks noGrp="1"/>
          </p:cNvSpPr>
          <p:nvPr/>
        </p:nvSpPr>
        <p:spPr>
          <a:xfrm>
            <a:off x="10693400" y="3081466"/>
            <a:ext cx="6985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4.25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EF07E4-C0AE-4505-A412-326A522654C6}"/>
              </a:ext>
            </a:extLst>
          </p:cNvPr>
          <p:cNvSpPr>
            <a:spLocks noGrp="1"/>
          </p:cNvSpPr>
          <p:nvPr/>
        </p:nvSpPr>
        <p:spPr>
          <a:xfrm>
            <a:off x="736600" y="3856166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scx-only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F9CA506-D1AF-4867-A8A8-9D5DA7CDE92F}"/>
              </a:ext>
            </a:extLst>
          </p:cNvPr>
          <p:cNvSpPr>
            <a:spLocks noGrp="1"/>
          </p:cNvSpPr>
          <p:nvPr/>
        </p:nvSpPr>
        <p:spPr>
          <a:xfrm>
            <a:off x="1968500" y="3835400"/>
            <a:ext cx="3153501" cy="279400"/>
          </a:xfrm>
          <a:prstGeom prst="roundRect">
            <a:avLst/>
          </a:prstGeom>
          <a:solidFill>
            <a:srgbClr val="6E44EB"/>
          </a:solidFill>
          <a:ln w="9525">
            <a:solidFill>
              <a:srgbClr val="6E4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DEFCC1-70C6-419B-8FDD-E9091C5FBE76}"/>
              </a:ext>
            </a:extLst>
          </p:cNvPr>
          <p:cNvSpPr>
            <a:spLocks noGrp="1"/>
          </p:cNvSpPr>
          <p:nvPr/>
        </p:nvSpPr>
        <p:spPr>
          <a:xfrm>
            <a:off x="5207000" y="3856166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99,402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D83275-F564-476E-9FDC-4BAA229E596D}"/>
              </a:ext>
            </a:extLst>
          </p:cNvPr>
          <p:cNvSpPr>
            <a:spLocks noGrp="1"/>
          </p:cNvSpPr>
          <p:nvPr/>
        </p:nvSpPr>
        <p:spPr>
          <a:xfrm>
            <a:off x="6502400" y="3856166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scx-only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198B631-5562-4CA3-B278-939654BBEDED}"/>
              </a:ext>
            </a:extLst>
          </p:cNvPr>
          <p:cNvSpPr>
            <a:spLocks noGrp="1"/>
          </p:cNvSpPr>
          <p:nvPr/>
        </p:nvSpPr>
        <p:spPr>
          <a:xfrm>
            <a:off x="8001000" y="3835400"/>
            <a:ext cx="712959" cy="279400"/>
          </a:xfrm>
          <a:prstGeom prst="roundRect">
            <a:avLst/>
          </a:prstGeom>
          <a:solidFill>
            <a:srgbClr val="6E44EB"/>
          </a:solidFill>
          <a:ln w="9525">
            <a:solidFill>
              <a:srgbClr val="6E44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EBD104-1CEA-457F-83D8-DBCE9D054F5C}"/>
              </a:ext>
            </a:extLst>
          </p:cNvPr>
          <p:cNvSpPr>
            <a:spLocks noGrp="1"/>
          </p:cNvSpPr>
          <p:nvPr/>
        </p:nvSpPr>
        <p:spPr>
          <a:xfrm>
            <a:off x="10693400" y="3856166"/>
            <a:ext cx="6985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2.39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DAB182C-7F70-493E-A406-BC7BADFF4FFF}"/>
              </a:ext>
            </a:extLst>
          </p:cNvPr>
          <p:cNvSpPr>
            <a:spLocks noGrp="1"/>
          </p:cNvSpPr>
          <p:nvPr/>
        </p:nvSpPr>
        <p:spPr>
          <a:xfrm>
            <a:off x="736600" y="4538534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827D899-3699-4E8E-82FA-E791FFF7AB82}"/>
              </a:ext>
            </a:extLst>
          </p:cNvPr>
          <p:cNvSpPr>
            <a:spLocks noGrp="1"/>
          </p:cNvSpPr>
          <p:nvPr/>
        </p:nvSpPr>
        <p:spPr>
          <a:xfrm>
            <a:off x="1968500" y="4610100"/>
            <a:ext cx="3106049" cy="2794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F27AAD-A076-480B-A70A-17628AC8FE6B}"/>
              </a:ext>
            </a:extLst>
          </p:cNvPr>
          <p:cNvSpPr>
            <a:spLocks noGrp="1"/>
          </p:cNvSpPr>
          <p:nvPr/>
        </p:nvSpPr>
        <p:spPr>
          <a:xfrm>
            <a:off x="5207000" y="4630866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97,398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FFFC3E-EA16-4814-AA82-4231D67A0F75}"/>
              </a:ext>
            </a:extLst>
          </p:cNvPr>
          <p:cNvSpPr>
            <a:spLocks noGrp="1"/>
          </p:cNvSpPr>
          <p:nvPr/>
        </p:nvSpPr>
        <p:spPr>
          <a:xfrm>
            <a:off x="6502400" y="4630867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2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8D68041-0A98-4575-9FA2-774581FC9A81}"/>
              </a:ext>
            </a:extLst>
          </p:cNvPr>
          <p:cNvSpPr>
            <a:spLocks noGrp="1"/>
          </p:cNvSpPr>
          <p:nvPr/>
        </p:nvSpPr>
        <p:spPr>
          <a:xfrm>
            <a:off x="8001000" y="4610100"/>
            <a:ext cx="708953" cy="2794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5925B9E-6FE0-4340-97B8-EAAC4DA3AA69}"/>
              </a:ext>
            </a:extLst>
          </p:cNvPr>
          <p:cNvSpPr>
            <a:spLocks noGrp="1"/>
          </p:cNvSpPr>
          <p:nvPr/>
        </p:nvSpPr>
        <p:spPr>
          <a:xfrm>
            <a:off x="10693400" y="4630866"/>
            <a:ext cx="6985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2.24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3AA0FE0-FB51-44FA-AB0C-E0D41390CBFD}"/>
              </a:ext>
            </a:extLst>
          </p:cNvPr>
          <p:cNvSpPr>
            <a:spLocks noGrp="1"/>
          </p:cNvSpPr>
          <p:nvPr/>
        </p:nvSpPr>
        <p:spPr>
          <a:xfrm>
            <a:off x="736600" y="5473700"/>
            <a:ext cx="10655300" cy="546100"/>
          </a:xfrm>
          <a:prstGeom prst="roundRect">
            <a:avLst/>
          </a:prstGeom>
          <a:solidFill>
            <a:srgbClr val="E1E9FC"/>
          </a:solidFill>
          <a:ln w="9525">
            <a:solidFill>
              <a:srgbClr val="E1E9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727F5EB-8281-49C0-BED3-5C4A52CFC1A5}"/>
              </a:ext>
            </a:extLst>
          </p:cNvPr>
          <p:cNvSpPr>
            <a:spLocks noGrp="1"/>
          </p:cNvSpPr>
          <p:nvPr/>
        </p:nvSpPr>
        <p:spPr>
          <a:xfrm>
            <a:off x="977900" y="5565289"/>
            <a:ext cx="10160000" cy="246221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Agent 联合策略：RPS +72.55%，P99 -66.04%，后台 CPU 保留率 47.03%（有效门槛 25%）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D708537-9F4D-480E-B0FC-4BB3B6B06DF5}"/>
              </a:ext>
            </a:extLst>
          </p:cNvPr>
          <p:cNvSpPr>
            <a:spLocks noGrp="1"/>
          </p:cNvSpPr>
          <p:nvPr/>
        </p:nvSpPr>
        <p:spPr>
          <a:xfrm>
            <a:off x="571500" y="624145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来源：formal 20 秒 × 3；results/competition-agent-llm/2026-07-17_07-50-10/。</a:t>
            </a:r>
          </a:p>
        </p:txBody>
      </p:sp>
    </p:spTree>
    <p:extLst>
      <p:ext uri="{BB962C8B-B14F-4D97-AF65-F5344CB8AC3E}">
        <p14:creationId xmlns:p14="http://schemas.microsoft.com/office/powerpoint/2010/main" val="4181428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67CECFF-4808-4450-9B2D-C2BF1BCC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4.3 第二 workload 与失败注入均通过实测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66FC0CD-11C2-44A5-A328-C018EA6EF53D}"/>
              </a:ext>
            </a:extLst>
          </p:cNvPr>
          <p:cNvSpPr>
            <a:spLocks noGrp="1"/>
          </p:cNvSpPr>
          <p:nvPr/>
        </p:nvSpPr>
        <p:spPr>
          <a:xfrm>
            <a:off x="685800" y="1701800"/>
            <a:ext cx="5207000" cy="38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4FEFE3-978C-4F4A-B179-DB223AB3A421}"/>
              </a:ext>
            </a:extLst>
          </p:cNvPr>
          <p:cNvSpPr>
            <a:spLocks noGrp="1"/>
          </p:cNvSpPr>
          <p:nvPr/>
        </p:nvSpPr>
        <p:spPr>
          <a:xfrm>
            <a:off x="952500" y="1884606"/>
            <a:ext cx="46355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sysbench 批处理吞吐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2DAEC1-3515-472E-802F-AC917D23224E}"/>
              </a:ext>
            </a:extLst>
          </p:cNvPr>
          <p:cNvSpPr>
            <a:spLocks noGrp="1"/>
          </p:cNvSpPr>
          <p:nvPr/>
        </p:nvSpPr>
        <p:spPr>
          <a:xfrm>
            <a:off x="965200" y="2641972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baseline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4AE425-277A-4C04-882B-585834F1131A}"/>
              </a:ext>
            </a:extLst>
          </p:cNvPr>
          <p:cNvSpPr>
            <a:spLocks noGrp="1"/>
          </p:cNvSpPr>
          <p:nvPr/>
        </p:nvSpPr>
        <p:spPr>
          <a:xfrm>
            <a:off x="2146300" y="2628900"/>
            <a:ext cx="2818437" cy="304800"/>
          </a:xfrm>
          <a:prstGeom prst="roundRect">
            <a:avLst/>
          </a:prstGeom>
          <a:solidFill>
            <a:srgbClr val="7C89A3"/>
          </a:solidFill>
          <a:ln w="9525">
            <a:solidFill>
              <a:srgbClr val="7C89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C92696-4116-4C26-BA8F-E2C1F1352D14}"/>
              </a:ext>
            </a:extLst>
          </p:cNvPr>
          <p:cNvSpPr>
            <a:spLocks noGrp="1"/>
          </p:cNvSpPr>
          <p:nvPr/>
        </p:nvSpPr>
        <p:spPr>
          <a:xfrm>
            <a:off x="5054600" y="2649667"/>
            <a:ext cx="5969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16,158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DAFE8E-F580-4209-BF4C-800E264E5E1C}"/>
              </a:ext>
            </a:extLst>
          </p:cNvPr>
          <p:cNvSpPr>
            <a:spLocks noGrp="1"/>
          </p:cNvSpPr>
          <p:nvPr/>
        </p:nvSpPr>
        <p:spPr>
          <a:xfrm>
            <a:off x="965200" y="3480172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interference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726F921-38C7-4F02-BD39-0AF7BB6CA0DA}"/>
              </a:ext>
            </a:extLst>
          </p:cNvPr>
          <p:cNvSpPr>
            <a:spLocks noGrp="1"/>
          </p:cNvSpPr>
          <p:nvPr/>
        </p:nvSpPr>
        <p:spPr>
          <a:xfrm>
            <a:off x="2146300" y="3467100"/>
            <a:ext cx="1480580" cy="304800"/>
          </a:xfrm>
          <a:prstGeom prst="roundRect">
            <a:avLst/>
          </a:prstGeom>
          <a:solidFill>
            <a:srgbClr val="EE8430"/>
          </a:solidFill>
          <a:ln w="9525">
            <a:solidFill>
              <a:srgbClr val="EE84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C619CB-3AA4-462A-A332-1E5AE9DAC63D}"/>
              </a:ext>
            </a:extLst>
          </p:cNvPr>
          <p:cNvSpPr>
            <a:spLocks noGrp="1"/>
          </p:cNvSpPr>
          <p:nvPr/>
        </p:nvSpPr>
        <p:spPr>
          <a:xfrm>
            <a:off x="5054600" y="3487866"/>
            <a:ext cx="5969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8,905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A345A5-614B-43B2-BDAF-9CC684CADB98}"/>
              </a:ext>
            </a:extLst>
          </p:cNvPr>
          <p:cNvSpPr>
            <a:spLocks noGrp="1"/>
          </p:cNvSpPr>
          <p:nvPr/>
        </p:nvSpPr>
        <p:spPr>
          <a:xfrm>
            <a:off x="965200" y="4318372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SchedX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E5513F-2AE1-4475-9DFA-369ABC66D4A7}"/>
              </a:ext>
            </a:extLst>
          </p:cNvPr>
          <p:cNvSpPr>
            <a:spLocks noGrp="1"/>
          </p:cNvSpPr>
          <p:nvPr/>
        </p:nvSpPr>
        <p:spPr>
          <a:xfrm>
            <a:off x="2146300" y="4305300"/>
            <a:ext cx="2524510" cy="304800"/>
          </a:xfrm>
          <a:prstGeom prst="roundRect">
            <a:avLst/>
          </a:prstGeom>
          <a:solidFill>
            <a:srgbClr val="2C54E8"/>
          </a:solidFill>
          <a:ln w="9525">
            <a:solidFill>
              <a:srgbClr val="2C5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CBBA58-51D8-4AE7-BB27-9FF6123C7352}"/>
              </a:ext>
            </a:extLst>
          </p:cNvPr>
          <p:cNvSpPr>
            <a:spLocks noGrp="1"/>
          </p:cNvSpPr>
          <p:nvPr/>
        </p:nvSpPr>
        <p:spPr>
          <a:xfrm>
            <a:off x="5054600" y="4326067"/>
            <a:ext cx="596900" cy="184666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1200" b="1">
                <a:solidFill>
                  <a:srgbClr val="12192C"/>
                </a:solidFill>
                <a:latin typeface="微软雅黑"/>
                <a:ea typeface="微软雅黑"/>
                <a:cs typeface="微软雅黑"/>
              </a:rPr>
              <a:t>14,802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55C468-DB8A-44D9-B9E7-F62DFD9EB2D8}"/>
              </a:ext>
            </a:extLst>
          </p:cNvPr>
          <p:cNvSpPr>
            <a:spLocks noGrp="1"/>
          </p:cNvSpPr>
          <p:nvPr/>
        </p:nvSpPr>
        <p:spPr>
          <a:xfrm>
            <a:off x="952500" y="4720967"/>
            <a:ext cx="4635500" cy="46166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5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相对干扰组吞吐恢复 66.22%，P95 从 2.93 ms 回到 0.36 ms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BDD1D65-49A0-4E61-A75A-A8BCBFDCEA39}"/>
              </a:ext>
            </a:extLst>
          </p:cNvPr>
          <p:cNvSpPr>
            <a:spLocks noGrp="1"/>
          </p:cNvSpPr>
          <p:nvPr/>
        </p:nvSpPr>
        <p:spPr>
          <a:xfrm>
            <a:off x="6223000" y="1701800"/>
            <a:ext cx="5232400" cy="3810000"/>
          </a:xfrm>
          <a:prstGeom prst="roundRect">
            <a:avLst/>
          </a:prstGeom>
          <a:solidFill>
            <a:srgbClr val="EFF3FB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FA9859-5846-4B47-9E81-4C7A7E62EDF9}"/>
              </a:ext>
            </a:extLst>
          </p:cNvPr>
          <p:cNvSpPr>
            <a:spLocks noGrp="1"/>
          </p:cNvSpPr>
          <p:nvPr/>
        </p:nvSpPr>
        <p:spPr>
          <a:xfrm>
            <a:off x="6489700" y="1884606"/>
            <a:ext cx="4699000" cy="292388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r>
              <a:rPr sz="19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Canary 接受与拒绝路径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C9794F5-3EC4-48EC-89A1-E3448B2BC8AC}"/>
              </a:ext>
            </a:extLst>
          </p:cNvPr>
          <p:cNvSpPr>
            <a:spLocks noGrp="1"/>
          </p:cNvSpPr>
          <p:nvPr/>
        </p:nvSpPr>
        <p:spPr>
          <a:xfrm>
            <a:off x="6515100" y="2501900"/>
            <a:ext cx="2209800" cy="180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CA6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2A422C-1045-4E59-BEA7-F89F125D9BD0}"/>
              </a:ext>
            </a:extLst>
          </p:cNvPr>
          <p:cNvSpPr>
            <a:spLocks noGrp="1"/>
          </p:cNvSpPr>
          <p:nvPr/>
        </p:nvSpPr>
        <p:spPr>
          <a:xfrm>
            <a:off x="6705600" y="2674694"/>
            <a:ext cx="18288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1CA669"/>
                </a:solidFill>
                <a:latin typeface="微软雅黑"/>
                <a:ea typeface="微软雅黑"/>
                <a:cs typeface="微软雅黑"/>
              </a:rPr>
              <a:t>DeepSeek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47157FA-688A-4C07-9C46-EDB8DC240195}"/>
              </a:ext>
            </a:extLst>
          </p:cNvPr>
          <p:cNvSpPr>
            <a:spLocks noGrp="1"/>
          </p:cNvSpPr>
          <p:nvPr/>
        </p:nvSpPr>
        <p:spPr>
          <a:xfrm>
            <a:off x="6705600" y="3078034"/>
            <a:ext cx="1828800" cy="369332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1CA669"/>
                </a:solidFill>
                <a:latin typeface="微软雅黑"/>
                <a:ea typeface="微软雅黑"/>
                <a:cs typeface="微软雅黑"/>
              </a:rPr>
              <a:t>accepted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E679F3-7610-47AC-91D3-0B31A26ACB0E}"/>
              </a:ext>
            </a:extLst>
          </p:cNvPr>
          <p:cNvSpPr>
            <a:spLocks noGrp="1"/>
          </p:cNvSpPr>
          <p:nvPr/>
        </p:nvSpPr>
        <p:spPr>
          <a:xfrm>
            <a:off x="6667500" y="3570645"/>
            <a:ext cx="1905000" cy="79248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expert: latency_guard
RPS +14.34% | P99 -92.68%</a:t>
            </a:r>
          </a:p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BG 保留 75.25%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9544D7E-0F6C-4943-AC85-C0621AF861C0}"/>
              </a:ext>
            </a:extLst>
          </p:cNvPr>
          <p:cNvSpPr>
            <a:spLocks noGrp="1"/>
          </p:cNvSpPr>
          <p:nvPr/>
        </p:nvSpPr>
        <p:spPr>
          <a:xfrm>
            <a:off x="8966200" y="2501900"/>
            <a:ext cx="2209800" cy="180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4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B58B2A-675A-48D9-AEE3-4AFFD91A4B39}"/>
              </a:ext>
            </a:extLst>
          </p:cNvPr>
          <p:cNvSpPr>
            <a:spLocks noGrp="1"/>
          </p:cNvSpPr>
          <p:nvPr/>
        </p:nvSpPr>
        <p:spPr>
          <a:xfrm>
            <a:off x="9156700" y="2674694"/>
            <a:ext cx="1828800" cy="2616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700" b="1">
                <a:solidFill>
                  <a:srgbClr val="D44247"/>
                </a:solidFill>
                <a:latin typeface="微软雅黑"/>
                <a:ea typeface="微软雅黑"/>
                <a:cs typeface="微软雅黑"/>
              </a:rPr>
              <a:t>严格 P99 门槛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535A16-2F93-438B-B03F-82618FC09D0D}"/>
              </a:ext>
            </a:extLst>
          </p:cNvPr>
          <p:cNvSpPr>
            <a:spLocks noGrp="1"/>
          </p:cNvSpPr>
          <p:nvPr/>
        </p:nvSpPr>
        <p:spPr>
          <a:xfrm>
            <a:off x="9156700" y="3093423"/>
            <a:ext cx="1828800" cy="33855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D44247"/>
                </a:solidFill>
                <a:latin typeface="微软雅黑"/>
                <a:ea typeface="微软雅黑"/>
                <a:cs typeface="微软雅黑"/>
              </a:rPr>
              <a:t>rolled_back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0C5905B-C53F-4331-89DB-B18374910AC6}"/>
              </a:ext>
            </a:extLst>
          </p:cNvPr>
          <p:cNvSpPr>
            <a:spLocks noGrp="1"/>
          </p:cNvSpPr>
          <p:nvPr/>
        </p:nvSpPr>
        <p:spPr>
          <a:xfrm>
            <a:off x="9118600" y="3570644"/>
            <a:ext cx="1905000" cy="400110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P99 -92.25%</a:t>
            </a:r>
          </a:p>
          <a:p>
            <a:pPr algn="ctr">
              <a:buNone/>
            </a:pPr>
            <a:r>
              <a:rPr sz="13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未达 -99.9%，已回滚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5F284-CFBD-43F7-9509-FD9667C067F6}"/>
              </a:ext>
            </a:extLst>
          </p:cNvPr>
          <p:cNvSpPr>
            <a:spLocks noGrp="1"/>
          </p:cNvSpPr>
          <p:nvPr/>
        </p:nvSpPr>
        <p:spPr>
          <a:xfrm>
            <a:off x="6489700" y="4558556"/>
            <a:ext cx="4699000" cy="43088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回滚：恢复 25 项设置、删除 11 个 cgroup、移除 10 条 scx policy；最终无残留。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875455-7058-4E25-A714-7B0C32D189BC}"/>
              </a:ext>
            </a:extLst>
          </p:cNvPr>
          <p:cNvSpPr>
            <a:spLocks noGrp="1"/>
          </p:cNvSpPr>
          <p:nvPr/>
        </p:nvSpPr>
        <p:spPr>
          <a:xfrm>
            <a:off x="571500" y="6241450"/>
            <a:ext cx="10922000" cy="138499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r">
              <a:buNone/>
            </a:pPr>
            <a:r>
              <a:rPr sz="900">
                <a:solidFill>
                  <a:srgbClr val="7C89A3"/>
                </a:solidFill>
                <a:latin typeface="微软雅黑"/>
                <a:ea typeface="微软雅黑"/>
                <a:cs typeface="微软雅黑"/>
              </a:rPr>
              <a:t>正式结论限定于 CPU 竞争场景；Redis 与 network/security Agent 不在本轮性能主张中。</a:t>
            </a:r>
          </a:p>
        </p:txBody>
      </p:sp>
    </p:spTree>
    <p:extLst>
      <p:ext uri="{BB962C8B-B14F-4D97-AF65-F5344CB8AC3E}">
        <p14:creationId xmlns:p14="http://schemas.microsoft.com/office/powerpoint/2010/main" val="3029281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686DEF1-E705-4B78-BCFF-8077005B584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sz="5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作品演示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D4B642-8D93-4A0D-BA31-BB7B0A182B0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一条命令完成预检、实验、Canary、回滚与报告生成</a:t>
            </a:r>
          </a:p>
        </p:txBody>
      </p:sp>
    </p:spTree>
    <p:extLst>
      <p:ext uri="{BB962C8B-B14F-4D97-AF65-F5344CB8AC3E}">
        <p14:creationId xmlns:p14="http://schemas.microsoft.com/office/powerpoint/2010/main" val="2010415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D88697D-08B1-4053-B0CF-1FDA78C6A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55" y="522605"/>
            <a:ext cx="7624445" cy="491490"/>
          </a:xfrm>
        </p:spPr>
        <p:txBody>
          <a:bodyPr/>
          <a:lstStyle/>
          <a:p>
            <a:r>
              <a:rPr>
                <a:solidFill>
                  <a:srgbClr val="2C54E8"/>
                </a:solidFill>
                <a:latin typeface="微软雅黑"/>
                <a:ea typeface="微软雅黑"/>
                <a:cs typeface="微软雅黑"/>
              </a:rPr>
              <a:t>5.1 一键演示保留完整证据链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419C235-C38A-46F4-BC04-8AF2F46340E0}"/>
              </a:ext>
            </a:extLst>
          </p:cNvPr>
          <p:cNvSpPr>
            <a:spLocks noGrp="1"/>
          </p:cNvSpPr>
          <p:nvPr/>
        </p:nvSpPr>
        <p:spPr>
          <a:xfrm>
            <a:off x="1447800" y="2679700"/>
            <a:ext cx="8128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2F57717-7FD6-4928-82E8-91244AC75671}"/>
              </a:ext>
            </a:extLst>
          </p:cNvPr>
          <p:cNvSpPr>
            <a:spLocks noGrp="1"/>
          </p:cNvSpPr>
          <p:nvPr/>
        </p:nvSpPr>
        <p:spPr>
          <a:xfrm>
            <a:off x="3225800" y="2679700"/>
            <a:ext cx="8128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1A6E1C3F-399B-47DD-B7BA-102959CD3737}"/>
              </a:ext>
            </a:extLst>
          </p:cNvPr>
          <p:cNvSpPr>
            <a:spLocks noGrp="1"/>
          </p:cNvSpPr>
          <p:nvPr/>
        </p:nvSpPr>
        <p:spPr>
          <a:xfrm>
            <a:off x="5003800" y="2679700"/>
            <a:ext cx="8128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9478488B-AD83-4169-929E-D77EE24612E4}"/>
              </a:ext>
            </a:extLst>
          </p:cNvPr>
          <p:cNvSpPr>
            <a:spLocks noGrp="1"/>
          </p:cNvSpPr>
          <p:nvPr/>
        </p:nvSpPr>
        <p:spPr>
          <a:xfrm>
            <a:off x="6781800" y="2679700"/>
            <a:ext cx="8128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656756E8-6FA5-4D94-AD51-926FE39FA780}"/>
              </a:ext>
            </a:extLst>
          </p:cNvPr>
          <p:cNvSpPr>
            <a:spLocks noGrp="1"/>
          </p:cNvSpPr>
          <p:nvPr/>
        </p:nvSpPr>
        <p:spPr>
          <a:xfrm>
            <a:off x="8559800" y="2679700"/>
            <a:ext cx="812800" cy="0"/>
          </a:xfrm>
          <a:prstGeom prst="line">
            <a:avLst/>
          </a:prstGeom>
          <a:ln w="25400">
            <a:solidFill>
              <a:srgbClr val="2C54E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F9116ED-DB0E-4325-AA1C-593ECF04DF87}"/>
              </a:ext>
            </a:extLst>
          </p:cNvPr>
          <p:cNvSpPr>
            <a:spLocks noGrp="1"/>
          </p:cNvSpPr>
          <p:nvPr/>
        </p:nvSpPr>
        <p:spPr>
          <a:xfrm>
            <a:off x="711200" y="2235200"/>
            <a:ext cx="14224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1116E1-0931-4C85-BD8F-77960EFBCCAD}"/>
              </a:ext>
            </a:extLst>
          </p:cNvPr>
          <p:cNvSpPr>
            <a:spLocks noGrp="1"/>
          </p:cNvSpPr>
          <p:nvPr/>
        </p:nvSpPr>
        <p:spPr>
          <a:xfrm>
            <a:off x="800100" y="2400672"/>
            <a:ext cx="12446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环境预检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B8693C-A518-49C5-AFBF-47F9E03B3197}"/>
              </a:ext>
            </a:extLst>
          </p:cNvPr>
          <p:cNvSpPr>
            <a:spLocks noGrp="1"/>
          </p:cNvSpPr>
          <p:nvPr/>
        </p:nvSpPr>
        <p:spPr>
          <a:xfrm>
            <a:off x="2489200" y="2235200"/>
            <a:ext cx="14224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EE1087-DA31-444D-B3A4-7F81C82EE641}"/>
              </a:ext>
            </a:extLst>
          </p:cNvPr>
          <p:cNvSpPr>
            <a:spLocks noGrp="1"/>
          </p:cNvSpPr>
          <p:nvPr/>
        </p:nvSpPr>
        <p:spPr>
          <a:xfrm>
            <a:off x="2578100" y="2400672"/>
            <a:ext cx="12446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workload 感知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BA2F0E-1C4B-4B0E-B999-9AADBBF81D5C}"/>
              </a:ext>
            </a:extLst>
          </p:cNvPr>
          <p:cNvSpPr>
            <a:spLocks noGrp="1"/>
          </p:cNvSpPr>
          <p:nvPr/>
        </p:nvSpPr>
        <p:spPr>
          <a:xfrm>
            <a:off x="4267200" y="2235200"/>
            <a:ext cx="14224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E005CE-4D56-41F3-BD2A-8BC68B8F74FE}"/>
              </a:ext>
            </a:extLst>
          </p:cNvPr>
          <p:cNvSpPr>
            <a:spLocks noGrp="1"/>
          </p:cNvSpPr>
          <p:nvPr/>
        </p:nvSpPr>
        <p:spPr>
          <a:xfrm>
            <a:off x="4356100" y="2400672"/>
            <a:ext cx="12446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四组消融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83BD3F-6EE1-4C5A-8E7C-1511C735F240}"/>
              </a:ext>
            </a:extLst>
          </p:cNvPr>
          <p:cNvSpPr>
            <a:spLocks noGrp="1"/>
          </p:cNvSpPr>
          <p:nvPr/>
        </p:nvSpPr>
        <p:spPr>
          <a:xfrm>
            <a:off x="6045200" y="2235200"/>
            <a:ext cx="14224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3B989C6-97B1-4463-BC84-3A8675C31254}"/>
              </a:ext>
            </a:extLst>
          </p:cNvPr>
          <p:cNvSpPr>
            <a:spLocks noGrp="1"/>
          </p:cNvSpPr>
          <p:nvPr/>
        </p:nvSpPr>
        <p:spPr>
          <a:xfrm>
            <a:off x="6134100" y="2400672"/>
            <a:ext cx="12446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第二 workload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B64249F-D3B6-45BA-AC39-9F62472DF535}"/>
              </a:ext>
            </a:extLst>
          </p:cNvPr>
          <p:cNvSpPr>
            <a:spLocks noGrp="1"/>
          </p:cNvSpPr>
          <p:nvPr/>
        </p:nvSpPr>
        <p:spPr>
          <a:xfrm>
            <a:off x="7823200" y="2235200"/>
            <a:ext cx="14224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36C31C-DB3F-4920-8B57-132A6F97F3ED}"/>
              </a:ext>
            </a:extLst>
          </p:cNvPr>
          <p:cNvSpPr>
            <a:spLocks noGrp="1"/>
          </p:cNvSpPr>
          <p:nvPr/>
        </p:nvSpPr>
        <p:spPr>
          <a:xfrm>
            <a:off x="7912100" y="2400672"/>
            <a:ext cx="12446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Canary 双路径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C72DC2C-1DB6-4D0A-92A5-A3D9B2E058F6}"/>
              </a:ext>
            </a:extLst>
          </p:cNvPr>
          <p:cNvSpPr>
            <a:spLocks noGrp="1"/>
          </p:cNvSpPr>
          <p:nvPr/>
        </p:nvSpPr>
        <p:spPr>
          <a:xfrm>
            <a:off x="9601200" y="2235200"/>
            <a:ext cx="1422400" cy="889000"/>
          </a:xfrm>
          <a:prstGeom prst="roundRect">
            <a:avLst/>
          </a:prstGeom>
          <a:solidFill>
            <a:srgbClr val="E1E9FC"/>
          </a:solidFill>
          <a:ln w="9525">
            <a:solidFill>
              <a:srgbClr val="D8E0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E9F613-A23C-424F-8931-1646E425A11A}"/>
              </a:ext>
            </a:extLst>
          </p:cNvPr>
          <p:cNvSpPr>
            <a:spLocks noGrp="1"/>
          </p:cNvSpPr>
          <p:nvPr/>
        </p:nvSpPr>
        <p:spPr>
          <a:xfrm>
            <a:off x="9690100" y="2400672"/>
            <a:ext cx="1244600" cy="200055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300" b="1">
                <a:solidFill>
                  <a:srgbClr val="101F4E"/>
                </a:solidFill>
                <a:latin typeface="微软雅黑"/>
                <a:ea typeface="微软雅黑"/>
                <a:cs typeface="微软雅黑"/>
              </a:rPr>
              <a:t>最终清理与报告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0762F50-A82C-44D2-8601-0C3A1CDCD037}"/>
              </a:ext>
            </a:extLst>
          </p:cNvPr>
          <p:cNvSpPr>
            <a:spLocks noGrp="1"/>
          </p:cNvSpPr>
          <p:nvPr/>
        </p:nvSpPr>
        <p:spPr>
          <a:xfrm>
            <a:off x="1117600" y="3683000"/>
            <a:ext cx="9956800" cy="990600"/>
          </a:xfrm>
          <a:prstGeom prst="roundRect">
            <a:avLst/>
          </a:prstGeom>
          <a:solidFill>
            <a:srgbClr val="101F4E"/>
          </a:solidFill>
          <a:ln w="9525">
            <a:solidFill>
              <a:srgbClr val="101F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2B0BF2-1005-4BE3-A7C9-CF5F0B95E30D}"/>
              </a:ext>
            </a:extLst>
          </p:cNvPr>
          <p:cNvSpPr>
            <a:spLocks noGrp="1"/>
          </p:cNvSpPr>
          <p:nvPr/>
        </p:nvSpPr>
        <p:spPr>
          <a:xfrm>
            <a:off x="1371600" y="4034422"/>
            <a:ext cx="9448800" cy="307777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bash scripts/demo_recording_story.sh</a:t>
            </a:r>
            <a:endParaRPr sz="2000" b="1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191BAC-7612-4121-BC00-321541BE8D6E}"/>
              </a:ext>
            </a:extLst>
          </p:cNvPr>
          <p:cNvSpPr>
            <a:spLocks noGrp="1"/>
          </p:cNvSpPr>
          <p:nvPr/>
        </p:nvSpPr>
        <p:spPr>
          <a:xfrm>
            <a:off x="1117600" y="5034578"/>
            <a:ext cx="9956800" cy="215444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525F7A"/>
                </a:solidFill>
                <a:latin typeface="微软雅黑"/>
                <a:ea typeface="微软雅黑"/>
                <a:cs typeface="微软雅黑"/>
              </a:rPr>
              <a:t>输出：环境快照 · DeepSeek 提案 · expert route · Action/cgroup/scx · agent-trace.json · Canary · rollback · 报告</a:t>
            </a:r>
          </a:p>
        </p:txBody>
      </p:sp>
    </p:spTree>
    <p:extLst>
      <p:ext uri="{BB962C8B-B14F-4D97-AF65-F5344CB8AC3E}">
        <p14:creationId xmlns:p14="http://schemas.microsoft.com/office/powerpoint/2010/main" val="1689539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36">
            <a:extLst>
              <a:ext uri="{FF2B5EF4-FFF2-40B4-BE49-F238E27FC236}">
                <a16:creationId xmlns:a16="http://schemas.microsoft.com/office/drawing/2014/main" id="{8D6FEF6C-DAE9-497C-9FC3-C867EAF9D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50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</a:t>
            </a:r>
            <a:r>
              <a:rPr sz="35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-Agent</a:t>
            </a:r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F3F3B946-1A4E-4B56-8CF4-296A1045539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SchedX Lab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488383FC-BAA2-42D4-93AC-ED7B9911E21B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099050" y="5077656"/>
            <a:ext cx="3866515" cy="290195"/>
          </a:xfrm>
        </p:spPr>
        <p:txBody>
          <a:bodyPr/>
          <a:lstStyle/>
          <a:p>
            <a:r>
              <a:rPr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2026年7月</a:t>
            </a:r>
            <a:r>
              <a:rPr lang="en-US" altLang="zh-CN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  <a:r>
              <a:rPr lang="zh-CN" altLang="en-US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</a:t>
            </a:r>
            <a:endParaRPr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文本占位符 50">
            <a:extLst>
              <a:ext uri="{FF2B5EF4-FFF2-40B4-BE49-F238E27FC236}">
                <a16:creationId xmlns:a16="http://schemas.microsoft.com/office/drawing/2014/main" id="{1FACCB9C-6F64-458F-954A-1ED7774E70EE}"/>
              </a:ext>
            </a:extLst>
          </p:cNvPr>
          <p:cNvSpPr>
            <a:spLocks noGrp="1"/>
          </p:cNvSpPr>
          <p:nvPr/>
        </p:nvSpPr>
        <p:spPr>
          <a:xfrm>
            <a:off x="3937218" y="4640664"/>
            <a:ext cx="1161805" cy="290369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参赛团队：</a:t>
            </a:r>
          </a:p>
        </p:txBody>
      </p:sp>
      <p:sp>
        <p:nvSpPr>
          <p:cNvPr id="34" name="文本占位符 53">
            <a:extLst>
              <a:ext uri="{FF2B5EF4-FFF2-40B4-BE49-F238E27FC236}">
                <a16:creationId xmlns:a16="http://schemas.microsoft.com/office/drawing/2014/main" id="{C5B059CA-D8E0-4011-8A72-165F1D67DE64}"/>
              </a:ext>
            </a:extLst>
          </p:cNvPr>
          <p:cNvSpPr>
            <a:spLocks noGrp="1"/>
          </p:cNvSpPr>
          <p:nvPr/>
        </p:nvSpPr>
        <p:spPr>
          <a:xfrm>
            <a:off x="3937218" y="5077480"/>
            <a:ext cx="1161805" cy="290371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完成日期：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C39D4B-E46E-4949-A637-8B5EDCDF4AFD}"/>
              </a:ext>
            </a:extLst>
          </p:cNvPr>
          <p:cNvSpPr>
            <a:spLocks noGrp="1"/>
          </p:cNvSpPr>
          <p:nvPr/>
        </p:nvSpPr>
        <p:spPr>
          <a:xfrm>
            <a:off x="2590478" y="3089954"/>
            <a:ext cx="7011043" cy="353943"/>
          </a:xfrm>
          <a:prstGeom prst="rect">
            <a:avLst/>
          </a:prstGeom>
          <a:noFill/>
        </p:spPr>
        <p:txBody>
          <a:bodyPr vert="horz" wrap="square" lIns="0" tIns="0" rIns="0" bIns="0" anchor="ctr">
            <a:spAutoFit/>
          </a:bodyPr>
          <a:lstStyle/>
          <a:p>
            <a:pPr algn="ctr">
              <a:buNone/>
            </a:pPr>
            <a:r>
              <a:rPr sz="23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 Agent </a:t>
            </a:r>
            <a:r>
              <a:rPr sz="23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决策可解释、执行可验证、失败可回滚</a:t>
            </a:r>
            <a:endParaRPr sz="23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1460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841</Words>
  <Application>Microsoft Office PowerPoint</Application>
  <DocSecurity>0</DocSecurity>
  <PresentationFormat>宽屏</PresentationFormat>
  <Paragraphs>225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黑体</vt:lpstr>
      <vt:lpstr>微软雅黑</vt:lpstr>
      <vt:lpstr>Arial</vt:lpstr>
      <vt:lpstr>Consolas</vt:lpstr>
      <vt:lpstr>Office 主题​​</vt:lpstr>
      <vt:lpstr>SchedX-Agent</vt:lpstr>
      <vt:lpstr>项目介绍</vt:lpstr>
      <vt:lpstr>PowerPoint 演示文稿</vt:lpstr>
      <vt:lpstr>1.1 默认调度无法直接理解业务 SLO</vt:lpstr>
      <vt:lpstr>1.2 目标：形成可验证、可回滚的资源管控闭环</vt:lpstr>
      <vt:lpstr>1.3 优势：自适应决策与安全执行解耦</vt:lpstr>
      <vt:lpstr>1.4 原创实现与开源边界均可审计</vt:lpstr>
      <vt:lpstr>PowerPoint 演示文稿</vt:lpstr>
      <vt:lpstr>2.1 标准化 Skills 组成完整 Agent 闭环</vt:lpstr>
      <vt:lpstr>2.2 三项机制让性能收益可信、可解释、可恢复</vt:lpstr>
      <vt:lpstr>PowerPoint 演示文稿</vt:lpstr>
      <vt:lpstr>3.1 打通 openEuler SP4 的真实 sched_ext</vt:lpstr>
      <vt:lpstr>3.2 特权动作必须经过四道安全门</vt:lpstr>
      <vt:lpstr>PowerPoint 演示文稿</vt:lpstr>
      <vt:lpstr>4.1 正式实验环境与质量门槛</vt:lpstr>
      <vt:lpstr>4.2 四组消融分离 cgroup、scx 与 Agent 的贡献</vt:lpstr>
      <vt:lpstr>4.3 第二 workload 与失败注入均通过实测</vt:lpstr>
      <vt:lpstr>PowerPoint 演示文稿</vt:lpstr>
      <vt:lpstr>5.1 一键演示保留完整证据链</vt:lpstr>
      <vt:lpstr>SchedX-Agent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GH</cp:lastModifiedBy>
  <cp:revision>4</cp:revision>
  <dcterms:created xsi:type="dcterms:W3CDTF">2026-07-19T17:26:08Z</dcterms:created>
  <dcterms:modified xsi:type="dcterms:W3CDTF">2026-07-29T15:36:31Z</dcterms:modified>
</cp:coreProperties>
</file>